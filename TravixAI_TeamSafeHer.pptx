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7"/>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Guardian Mobility AI is India's first AI-powered journey protection platform. We're not building another ride-booking app — we're building an intelligent safety layer over every mode of transport Indians use daily. In the next few minutes, let us show you why this matters deeply.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Jahnavi. She represents 400+ million daily commuters in India. Her journey isn't just about getting from point A to B — it's about surviving a system that wasn't designed with her safety in mind. This emotional truth is the core of Guardian Mobility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structural. Existing mobility platforms — Ola, Uber, Rapido — were designed around ride booking and driver matching. Safety is an afterthought: a reactive SOS button, not proactive intelligence. This is the gap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platform today protects a commuter through their entire journey. When Jahnavi leaves the auto and boards the bus, Ola stops caring. When she walks the last 800 meters home, no app is watching. Guardian Mobility AI covers the entire journey — every mode, every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Guardian Mobility AI is three things in one: an AI engine that monitors your journey in real-time, a safe handover tracker that bridges transport modes, and a trust system that scores every journey for safety. It's not a single feature — it's a full intelligence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innovations work together as a stack. Guardian Mode is always monitoring. Safe Handover bridges transport gaps. The Trust Score builds credibility over time. Risk Analysis predicts danger before it happens. Together, they create a continuous protection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differentiators are what make Guardian Mobility AI a category-defining product. Every feature addresses a real failure point in the current system. Voice-free SOS alone can be the difference between life and death in a hostile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MVP is not aspirational — it's a real working prototype we can demo at the hackathon. Using Firebase for real-time data, browser geolocation for live tracking, and a rule-based prediction engine, we can have a fully functional demo within 48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of this opportunity is enormous. 450 million daily commuters. 62% of women report safety concerns. This is not a niche product — it's a platform for India's entire urban mobility ecosystem. Every Jahnavi in every city is our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building the safety layer that India's mobility ecosystem has always needed. Not as a feature inside another app — as a standalone intelligence platform. The future we're building is one where every Jahnavi, every student, every night-shift worker travels with confidence.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LeftBar"/>
          <p:cNvSpPr/>
          <p:nvPr/>
        </p:nvSpPr>
        <p:spPr>
          <a:xfrm>
            <a:off x="0" y="0"/>
            <a:ext cx="304800" cy="5143500"/>
          </a:xfrm>
          <a:prstGeom prst="rect">
            <a:avLst/>
          </a:prstGeom>
          <a:solidFill>
            <a:srgbClr val="0A2342"/>
          </a:solidFill>
          <a:ln>
            <a:noFill/>
          </a:ln>
        </p:spPr>
      </p:sp>
      <p:sp>
        <p:nvSpPr>
          <p:cNvPr id="3" name="BottomBar"/>
          <p:cNvSpPr/>
          <p:nvPr/>
        </p:nvSpPr>
        <p:spPr>
          <a:xfrm>
            <a:off x="304800" y="5029200"/>
            <a:ext cx="8839200" cy="114300"/>
          </a:xfrm>
          <a:prstGeom prst="rect">
            <a:avLst/>
          </a:prstGeom>
          <a:solidFill>
            <a:srgbClr val="00BFA5"/>
          </a:solidFill>
          <a:ln>
            <a:noFill/>
          </a:ln>
        </p:spPr>
      </p:sp>
      <p:sp>
        <p:nvSpPr>
          <p:cNvPr id="4" name="ContentCard"/>
          <p:cNvSpPr/>
          <p:nvPr/>
        </p:nvSpPr>
        <p:spPr>
          <a:xfrm>
            <a:off x="457200" y="457200"/>
            <a:ext cx="5486400" cy="4114800"/>
          </a:xfrm>
          <a:prstGeom prst="rect">
            <a:avLst/>
          </a:prstGeom>
          <a:noFill/>
          <a:ln>
            <a:noFill/>
          </a:ln>
        </p:spPr>
      </p:sp>
      <p:sp>
        <p:nvSpPr>
          <p:cNvPr id="5" name="HackBadge"/>
          <p:cNvSpPr/>
          <p:nvPr/>
        </p:nvSpPr>
        <p:spPr>
          <a:xfrm>
            <a:off x="457200" y="457200"/>
            <a:ext cx="3200400" cy="304800"/>
          </a:xfrm>
          <a:prstGeom prst="roundRect">
            <a:avLst>
              <a:gd name="adj" fmla="val 16667"/>
            </a:avLst>
          </a:prstGeom>
          <a:solidFill>
            <a:srgbClr val="FF8C42"/>
          </a:solidFill>
          <a:ln>
            <a:noFill/>
          </a:ln>
        </p:spPr>
        <p:txBody>
          <a:bodyPr wrap="square" lIns="91440" tIns="45720" rIns="91440" bIns="45720" rtlCol="0" anchor="ctr"/>
          <a:lstStyle/>
          <a:p>
            <a:pPr algn="l" indent="0" marL="0">
              <a:buNone/>
            </a:pPr>
            <a:r>
              <a:rPr lang="en-US" sz="900" b="1" dirty="0">
                <a:solidFill>
                  <a:srgbClr val="FFFFFF"/>
                </a:solidFill>
                <a:latin typeface="Calibri"/>
              </a:rPr>
              <a:t>Reimagining Urban Mobility &amp; Daily Commute in India 2026</a:t>
            </a:r>
          </a:p>
        </p:txBody>
      </p:sp>
      <p:sp>
        <p:nvSpPr>
          <p:cNvPr id="6" name="MainTitle"/>
          <p:cNvSpPr/>
          <p:nvPr/>
        </p:nvSpPr>
        <p:spPr>
          <a:xfrm>
            <a:off x="457200" y="914400"/>
            <a:ext cx="5486400" cy="1005840"/>
          </a:xfrm>
          <a:prstGeom prst="rect">
            <a:avLst/>
          </a:prstGeom>
          <a:noFill/>
          <a:ln>
            <a:noFill/>
          </a:ln>
        </p:spPr>
        <p:txBody>
          <a:bodyPr wrap="square" lIns="0" tIns="0" rIns="0" bIns="0" rtlCol="0" anchor="ctr"/>
          <a:lstStyle/>
          <a:p>
            <a:pPr algn="l" indent="0" marL="0">
              <a:buNone/>
            </a:pPr>
            <a:r>
              <a:rPr lang="en-US" sz="6000" b="1" dirty="0">
                <a:solidFill>
                  <a:srgbClr val="0A2342"/>
                </a:solidFill>
                <a:latin typeface="Calibri"/>
              </a:rPr>
              <a:t>Travix AI</a:t>
            </a:r>
          </a:p>
        </p:txBody>
      </p:sp>
      <p:sp>
        <p:nvSpPr>
          <p:cNvPr id="7" name="TaglinePill"/>
          <p:cNvSpPr/>
          <p:nvPr/>
        </p:nvSpPr>
        <p:spPr>
          <a:xfrm>
            <a:off x="457200" y="1966560"/>
            <a:ext cx="2743200" cy="228600"/>
          </a:xfrm>
          <a:prstGeom prst="roundRect">
            <a:avLst>
              <a:gd name="adj" fmla="val 33333"/>
            </a:avLst>
          </a:prstGeom>
          <a:solidFill>
            <a:srgbClr val="E8F8F6"/>
          </a:solidFill>
          <a:ln w="9525">
            <a:solidFill>
              <a:srgbClr val="00BFA5"/>
            </a:solidFill>
          </a:ln>
        </p:spPr>
        <p:txBody>
          <a:bodyPr wrap="square" lIns="91440" tIns="0" rIns="91440" bIns="0" rtlCol="0" anchor="ctr"/>
          <a:lstStyle/>
          <a:p>
            <a:pPr algn="l" indent="0" marL="0">
              <a:buNone/>
            </a:pPr>
            <a:r>
              <a:rPr lang="en-US" sz="1000" b="1" dirty="0">
                <a:solidFill>
                  <a:srgbClr val="00BFA5"/>
                </a:solidFill>
                <a:latin typeface="Calibri"/>
              </a:rPr>
              <a:t>From Ride Booking to Journey Protection</a:t>
            </a:r>
          </a:p>
        </p:txBody>
      </p:sp>
      <p:sp>
        <p:nvSpPr>
          <p:cNvPr id="8" name="Subtitle"/>
          <p:cNvSpPr/>
          <p:nvPr/>
        </p:nvSpPr>
        <p:spPr>
          <a:xfrm>
            <a:off x="457200" y="2286000"/>
            <a:ext cx="5486400" cy="685800"/>
          </a:xfrm>
          <a:prstGeom prst="rect">
            <a:avLst/>
          </a:prstGeom>
          <a:noFill/>
          <a:ln>
            <a:noFill/>
          </a:ln>
        </p:spPr>
        <p:txBody>
          <a:bodyPr wrap="square" lIns="0" tIns="0" rIns="0" bIns="0" rtlCol="0" anchor="top"/>
          <a:lstStyle/>
          <a:p>
            <a:pPr algn="l" indent="0" marL="0">
              <a:buNone/>
            </a:pPr>
            <a:r>
              <a:rPr lang="en-US" sz="1400" dirty="0">
                <a:solidFill>
                  <a:srgbClr val="444444"/>
                </a:solidFill>
                <a:latin typeface="Calibri"/>
              </a:rPr>
              <a:t>India’s First AI-Powered Predictive Mobility</a:t>
            </a:r>
          </a:p>
          <a:p>
            <a:pPr algn="l" indent="0" marL="0">
              <a:buNone/>
            </a:pPr>
            <a:r>
              <a:rPr lang="en-US" sz="1400" dirty="0">
                <a:solidFill>
                  <a:srgbClr val="444444"/>
                </a:solidFill>
                <a:latin typeface="Calibri"/>
              </a:rPr>
              <a:t>Safety &amp; Journey Protection Platform</a:t>
            </a:r>
          </a:p>
        </p:txBody>
      </p:sp>
      <p:sp>
        <p:nvSpPr>
          <p:cNvPr id="9" name="TeamName"/>
          <p:cNvSpPr/>
          <p:nvPr/>
        </p:nvSpPr>
        <p:spPr>
          <a:xfrm>
            <a:off x="457200" y="3200400"/>
            <a:ext cx="5486400" cy="685800"/>
          </a:xfrm>
          <a:prstGeom prst="rect">
            <a:avLst/>
          </a:prstGeom>
          <a:noFill/>
          <a:ln>
            <a:noFill/>
          </a:ln>
        </p:spPr>
        <p:txBody>
          <a:bodyPr wrap="square" lIns="0" tIns="0" rIns="0" bIns="0" rtlCol="0" anchor="top"/>
          <a:lstStyle/>
          <a:p>
            <a:pPr algn="l" indent="0" marL="0">
              <a:buNone/>
            </a:pPr>
            <a:r>
              <a:rPr lang="en-US" sz="1600" b="1" dirty="0">
                <a:solidFill>
                  <a:srgbClr val="0A2342"/>
                </a:solidFill>
                <a:latin typeface="Calibri"/>
              </a:rPr>
              <a:t>Team SafeHer</a:t>
            </a:r>
          </a:p>
          <a:p>
            <a:pPr algn="l" indent="0" marL="0">
              <a:buNone/>
            </a:pPr>
            <a:r>
              <a:rPr lang="en-US" sz="1100" dirty="0">
                <a:solidFill>
                  <a:srgbClr val="666666"/>
                </a:solidFill>
                <a:latin typeface="Calibri"/>
              </a:rPr>
              <a:t>Developed by students from VIT Vellore  |  AITS Rajampet  |  Malla Reddy University</a:t>
            </a:r>
          </a:p>
        </p:txBody>
      </p:sp>
      <p:sp>
        <p:nvSpPr>
          <p:cNvPr id="10" name="RightPanel"/>
          <p:cNvSpPr/>
          <p:nvPr/>
        </p:nvSpPr>
        <p:spPr>
          <a:xfrm>
            <a:off x="6096000" y="0"/>
            <a:ext cx="3048000" cy="5029200"/>
          </a:xfrm>
          <a:prstGeom prst="rect">
            <a:avLst/>
          </a:prstGeom>
          <a:solidFill>
            <a:srgbClr val="F5F7FA"/>
          </a:solidFill>
          <a:ln>
            <a:noFill/>
          </a:ln>
        </p:spPr>
      </p:sp>
      <p:sp>
        <p:nvSpPr>
          <p:cNvPr id="11" name="MobilityFlow"/>
          <p:cNvSpPr/>
          <p:nvPr/>
        </p:nvSpPr>
        <p:spPr>
          <a:xfrm>
            <a:off x="6096000" y="457200"/>
            <a:ext cx="3048000" cy="4114800"/>
          </a:xfrm>
          <a:prstGeom prst="rect">
            <a:avLst/>
          </a:prstGeom>
          <a:noFill/>
          <a:ln>
            <a:noFill/>
          </a:ln>
        </p:spPr>
        <p:txBody>
          <a:bodyPr wrap="square" lIns="182880" tIns="228600" rIns="182880" bIns="228600" rtlCol="0" anchor="ctr"/>
          <a:lstStyle/>
          <a:p>
            <a:pPr algn="ctr" indent="0" marL="0">
              <a:buNone/>
            </a:pPr>
            <a:r>
              <a:rPr lang="en-US" sz="1400" b="1" dirty="0">
                <a:solidFill>
                  <a:srgbClr val="0A2342"/>
                </a:solidFill>
                <a:latin typeface="Calibri"/>
              </a:rPr>
              <a:t>Journey Ecosystem</a:t>
            </a:r>
          </a:p>
          <a:p>
            <a:pPr algn="ctr">
              <a:buNone/>
            </a:pPr>
            <a:endParaRPr lang="en-US" sz="1000"/>
          </a:p>
          <a:p>
            <a:pPr algn="ctr" indent="0" marL="0">
              <a:buNone/>
            </a:pPr>
            <a:r>
              <a:rPr lang="en-US" sz="2400" dirty="0">
                <a:solidFill>
                  <a:srgbClr val="0A2342"/>
                </a:solidFill>
                <a:latin typeface="Calibri"/>
              </a:rPr>
              <a:t>🚗</a:t>
            </a:r>
          </a:p>
          <a:p>
            <a:pPr algn="ctr" indent="0" marL="0">
              <a:buNone/>
            </a:pPr>
            <a:r>
              <a:rPr lang="en-US" sz="1000" dirty="0">
                <a:solidFill>
                  <a:srgbClr val="00BFA5"/>
                </a:solidFill>
                <a:latin typeface="Calibri"/>
              </a:rPr>
              <a:t>Auto</a:t>
            </a:r>
          </a:p>
          <a:p>
            <a:pPr algn="ctr" indent="0" marL="0">
              <a:buNone/>
            </a:pPr>
            <a:r>
              <a:rPr lang="en-US" sz="1400" dirty="0">
                <a:solidFill>
                  <a:srgbClr val="CCCCCC"/>
                </a:solidFill>
                <a:latin typeface="Calibri"/>
              </a:rPr>
              <a:t>↓</a:t>
            </a:r>
          </a:p>
          <a:p>
            <a:pPr algn="ctr" indent="0" marL="0">
              <a:buNone/>
            </a:pPr>
            <a:r>
              <a:rPr lang="en-US" sz="2400" dirty="0">
                <a:solidFill>
                  <a:srgbClr val="0A2342"/>
                </a:solidFill>
                <a:latin typeface="Calibri"/>
              </a:rPr>
              <a:t>🚌</a:t>
            </a:r>
          </a:p>
          <a:p>
            <a:pPr algn="ctr" indent="0" marL="0">
              <a:buNone/>
            </a:pPr>
            <a:r>
              <a:rPr lang="en-US" sz="1000" dirty="0">
                <a:solidFill>
                  <a:srgbClr val="00BFA5"/>
                </a:solidFill>
                <a:latin typeface="Calibri"/>
              </a:rPr>
              <a:t>APSRTC Bus</a:t>
            </a:r>
          </a:p>
          <a:p>
            <a:pPr algn="ctr" indent="0" marL="0">
              <a:buNone/>
            </a:pPr>
            <a:r>
              <a:rPr lang="en-US" sz="1400" dirty="0">
                <a:solidFill>
                  <a:srgbClr val="CCCCCC"/>
                </a:solidFill>
                <a:latin typeface="Calibri"/>
              </a:rPr>
              <a:t>↓</a:t>
            </a:r>
          </a:p>
          <a:p>
            <a:pPr algn="ctr" indent="0" marL="0">
              <a:buNone/>
            </a:pPr>
            <a:r>
              <a:rPr lang="en-US" sz="2400" dirty="0">
                <a:solidFill>
                  <a:srgbClr val="0A2342"/>
                </a:solidFill>
                <a:latin typeface="Calibri"/>
              </a:rPr>
              <a:t>🚶</a:t>
            </a:r>
          </a:p>
          <a:p>
            <a:pPr algn="ctr" indent="0" marL="0">
              <a:buNone/>
            </a:pPr>
            <a:r>
              <a:rPr lang="en-US" sz="1000" dirty="0">
                <a:solidFill>
                  <a:srgbClr val="00BFA5"/>
                </a:solidFill>
                <a:latin typeface="Calibri"/>
              </a:rPr>
              <a:t>Walking Route</a:t>
            </a:r>
          </a:p>
          <a:p>
            <a:pPr algn="ctr" indent="0" marL="0">
              <a:buNone/>
            </a:pPr>
            <a:r>
              <a:rPr lang="en-US" sz="1400" dirty="0">
                <a:solidFill>
                  <a:srgbClr val="CCCCCC"/>
                </a:solidFill>
                <a:latin typeface="Calibri"/>
              </a:rPr>
              <a:t>↓</a:t>
            </a:r>
          </a:p>
          <a:p>
            <a:pPr algn="ctr" indent="0" marL="0">
              <a:buNone/>
            </a:pPr>
            <a:r>
              <a:rPr lang="en-US" sz="2400" dirty="0">
                <a:solidFill>
                  <a:srgbClr val="FF8C42"/>
                </a:solidFill>
                <a:latin typeface="Calibri"/>
              </a:rPr>
              <a:t>🏠</a:t>
            </a:r>
          </a:p>
          <a:p>
            <a:pPr algn="ctr" indent="0" marL="0">
              <a:buNone/>
            </a:pPr>
            <a:r>
              <a:rPr lang="en-US" sz="1000" b="1" dirty="0">
                <a:solidFill>
                  <a:srgbClr val="FF8C42"/>
                </a:solidFill>
                <a:latin typeface="Calibri"/>
              </a:rPr>
              <a:t>Home — Safe</a:t>
            </a:r>
          </a:p>
          <a:p>
            <a:pPr algn="ctr">
              <a:buNone/>
            </a:pPr>
            <a:endParaRPr lang="en-US" sz="900"/>
          </a:p>
          <a:p>
            <a:pPr algn="ctr" indent="0" marL="0">
              <a:buNone/>
            </a:pPr>
            <a:r>
              <a:rPr lang="en-US" sz="900" i="1" dirty="0">
                <a:solidFill>
                  <a:srgbClr val="00BFA5"/>
                </a:solidFill>
                <a:latin typeface="Calibri"/>
              </a:rPr>
              <a:t>AI Safety Monitoring Active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5"/>
          </a:solidFill>
          <a:ln w="12700">
            <a:solidFill>
              <a:srgbClr val="00BFA5"/>
            </a:solidFill>
            <a:prstDash val="solid"/>
          </a:ln>
        </p:spPr>
      </p:sp>
      <p:sp>
        <p:nvSpPr>
          <p:cNvPr id="3" name="Text 1"/>
          <p:cNvSpPr/>
          <p:nvPr/>
        </p:nvSpPr>
        <p:spPr>
          <a:xfrm>
            <a:off x="457200" y="182880"/>
            <a:ext cx="8229600" cy="59436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A Journey Millions Experience Every Day</a:t>
            </a:r>
            <a:endParaRPr lang="en-US" sz="2800" dirty="0"/>
          </a:p>
        </p:txBody>
      </p:sp>
      <p:sp>
        <p:nvSpPr>
          <p:cNvPr id="4" name="Shape 2"/>
          <p:cNvSpPr/>
          <p:nvPr/>
        </p:nvSpPr>
        <p:spPr>
          <a:xfrm>
            <a:off x="365760" y="914400"/>
            <a:ext cx="4206240" cy="3931920"/>
          </a:xfrm>
          <a:prstGeom prst="roundRect">
            <a:avLst>
              <a:gd name="adj" fmla="val 3488"/>
            </a:avLst>
          </a:prstGeom>
          <a:solidFill>
            <a:srgbClr val="F5F7FA"/>
          </a:solidFill>
          <a:ln w="12700">
            <a:solidFill>
              <a:srgbClr val="0A2342"/>
            </a:solidFill>
            <a:prstDash val="solid"/>
          </a:ln>
          <a:effectLst>
            <a:outerShdw sx="100000" sy="100000" kx="0" ky="0" algn="bl" rotWithShape="0" blurRad="127000" dist="38100" dir="2700000">
              <a:srgbClr val="000000">
                <a:alpha val="25000"/>
              </a:srgbClr>
            </a:outerShdw>
          </a:effectLst>
        </p:spPr>
      </p:sp>
      <p:pic>
        <p:nvPicPr>
          <p:cNvPr id="5" name="Image 0" descr="preencoded.png"/>
          <p:cNvPicPr>
            <a:picLocks noChangeAspect="1"/>
          </p:cNvPicPr>
          <p:nvPr/>
        </p:nvPicPr>
        <p:blipFill>
          <a:blip r:embed="rId1"/>
          <a:stretch>
            <a:fillRect/>
          </a:stretch>
        </p:blipFill>
        <p:spPr>
          <a:xfrm>
            <a:off x="777240" y="1051560"/>
            <a:ext cx="594360" cy="594360"/>
          </a:xfrm>
          <a:prstGeom prst="rect">
            <a:avLst/>
          </a:prstGeom>
        </p:spPr>
      </p:pic>
      <p:sp>
        <p:nvSpPr>
          <p:cNvPr id="6" name="Text 3"/>
          <p:cNvSpPr/>
          <p:nvPr/>
        </p:nvSpPr>
        <p:spPr>
          <a:xfrm>
            <a:off x="1463040" y="1078992"/>
            <a:ext cx="2743200" cy="320040"/>
          </a:xfrm>
          <a:prstGeom prst="rect">
            <a:avLst/>
          </a:prstGeom>
          <a:noFill/>
          <a:ln/>
        </p:spPr>
        <p:txBody>
          <a:bodyPr wrap="square" lIns="0" tIns="0" rIns="0" bIns="0"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Jahnavi, 21</a:t>
            </a:r>
            <a:endParaRPr lang="en-US" sz="1500" dirty="0"/>
          </a:p>
        </p:txBody>
      </p:sp>
      <p:sp>
        <p:nvSpPr>
          <p:cNvPr id="7" name="Text 4"/>
          <p:cNvSpPr/>
          <p:nvPr/>
        </p:nvSpPr>
        <p:spPr>
          <a:xfrm>
            <a:off x="1463040" y="1389888"/>
            <a:ext cx="2926080" cy="27432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Engineering Student, Kadapa</a:t>
            </a:r>
            <a:endParaRPr lang="en-US" sz="1100" dirty="0"/>
          </a:p>
        </p:txBody>
      </p:sp>
      <p:sp>
        <p:nvSpPr>
          <p:cNvPr id="8" name="Text 5"/>
          <p:cNvSpPr/>
          <p:nvPr/>
        </p:nvSpPr>
        <p:spPr>
          <a:xfrm>
            <a:off x="594360" y="1783080"/>
            <a:ext cx="3749040" cy="2880360"/>
          </a:xfrm>
          <a:prstGeom prst="rect">
            <a:avLst/>
          </a:prstGeom>
          <a:noFill/>
          <a:ln/>
        </p:spPr>
        <p:txBody>
          <a:bodyPr wrap="square" lIns="0" tIns="0" rIns="0" bIns="0" rtlCol="0" anchor="ctr"/>
          <a:lstStyle/>
          <a:p>
            <a:pPr indent="0" marL="0">
              <a:buNone/>
            </a:pPr>
            <a:r>
              <a:rPr lang="en-US" sz="1200" b="1" dirty="0">
                <a:solidFill>
                  <a:srgbClr val="00BFA5"/>
                </a:solidFill>
                <a:latin typeface="Calibri" pitchFamily="34" charset="0"/>
                <a:ea typeface="Calibri" pitchFamily="34" charset="-122"/>
                <a:cs typeface="Calibri" pitchFamily="34" charset="-120"/>
              </a:rPr>
              <a:t>Every evening she takes:</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xml:space="preserve"> </a:t>
            </a:r>
            <a:endParaRPr lang="en-US" sz="1200" dirty="0"/>
          </a:p>
          <a:p>
            <a:pPr indent="0" marL="0">
              <a:buNone/>
            </a:pPr>
            <a:r>
              <a:rPr lang="en-US" sz="1200" dirty="0">
                <a:solidFill>
                  <a:srgbClr val="0A2342"/>
                </a:solidFill>
                <a:latin typeface="Calibri" pitchFamily="34" charset="0"/>
                <a:ea typeface="Calibri" pitchFamily="34" charset="-122"/>
                <a:cs typeface="Calibri" pitchFamily="34" charset="-120"/>
              </a:rPr>
              <a:t>🚗  Auto  →  🚌  APSRTC Bus</a:t>
            </a:r>
            <a:endParaRPr lang="en-US" sz="1200" dirty="0"/>
          </a:p>
          <a:p>
            <a:pPr indent="0" marL="0">
              <a:buNone/>
            </a:pPr>
            <a:r>
              <a:rPr lang="en-US" sz="1200" dirty="0">
                <a:solidFill>
                  <a:srgbClr val="0A2342"/>
                </a:solidFill>
                <a:latin typeface="Calibri" pitchFamily="34" charset="0"/>
                <a:ea typeface="Calibri" pitchFamily="34" charset="-122"/>
                <a:cs typeface="Calibri" pitchFamily="34" charset="-120"/>
              </a:rPr>
              <a:t>🚶  Walking Route  →  🏠  Home</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xml:space="preserve"> </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Before every journey, she manually</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shares her live location with family.</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xml:space="preserve"> </a:t>
            </a:r>
            <a:endParaRPr lang="en-US" sz="1200" dirty="0"/>
          </a:p>
          <a:p>
            <a:pPr indent="0" marL="0">
              <a:buNone/>
            </a:pPr>
            <a:r>
              <a:rPr lang="en-US" sz="1200" b="1" i="1" dirty="0">
                <a:solidFill>
                  <a:srgbClr val="FFB800"/>
                </a:solidFill>
                <a:latin typeface="Calibri" pitchFamily="34" charset="0"/>
                <a:ea typeface="Calibri" pitchFamily="34" charset="-122"/>
                <a:cs typeface="Calibri" pitchFamily="34" charset="-120"/>
              </a:rPr>
              <a:t>Not because she wants to.</a:t>
            </a:r>
            <a:endParaRPr lang="en-US" sz="1200" dirty="0"/>
          </a:p>
          <a:p>
            <a:pPr indent="0" marL="0">
              <a:buNone/>
            </a:pPr>
            <a:r>
              <a:rPr lang="en-US" sz="1200" b="1" i="1" dirty="0">
                <a:solidFill>
                  <a:srgbClr val="FF4D6A"/>
                </a:solidFill>
                <a:latin typeface="Calibri" pitchFamily="34" charset="0"/>
                <a:ea typeface="Calibri" pitchFamily="34" charset="-122"/>
                <a:cs typeface="Calibri" pitchFamily="34" charset="-120"/>
              </a:rPr>
              <a:t>Because she feels unsafe.</a:t>
            </a:r>
            <a:endParaRPr lang="en-US" sz="1200" dirty="0"/>
          </a:p>
        </p:txBody>
      </p:sp>
      <p:sp>
        <p:nvSpPr>
          <p:cNvPr id="9" name="Text 6"/>
          <p:cNvSpPr/>
          <p:nvPr/>
        </p:nvSpPr>
        <p:spPr>
          <a:xfrm>
            <a:off x="4937760" y="914400"/>
            <a:ext cx="3657600" cy="365760"/>
          </a:xfrm>
          <a:prstGeom prst="rect">
            <a:avLst/>
          </a:prstGeom>
          <a:noFill/>
          <a:ln/>
        </p:spPr>
        <p:txBody>
          <a:bodyPr wrap="square" lIns="0" tIns="0" rIns="0" bIns="0" rtlCol="0" anchor="ctr"/>
          <a:lstStyle/>
          <a:p>
            <a:pPr algn="ctr" indent="0" marL="0">
              <a:buNone/>
            </a:pPr>
            <a:r>
              <a:rPr lang="en-US" sz="1400" b="1" dirty="0">
                <a:solidFill>
                  <a:srgbClr val="00BFA5"/>
                </a:solidFill>
                <a:latin typeface="Calibri" pitchFamily="34" charset="0"/>
                <a:ea typeface="Calibri" pitchFamily="34" charset="-122"/>
                <a:cs typeface="Calibri" pitchFamily="34" charset="-120"/>
              </a:rPr>
              <a:t>Her Daily Commute</a:t>
            </a:r>
            <a:endParaRPr lang="en-US" sz="1400" dirty="0"/>
          </a:p>
        </p:txBody>
      </p:sp>
      <p:sp>
        <p:nvSpPr>
          <p:cNvPr id="10" name="Shape 7"/>
          <p:cNvSpPr/>
          <p:nvPr/>
        </p:nvSpPr>
        <p:spPr>
          <a:xfrm>
            <a:off x="4846320" y="1371600"/>
            <a:ext cx="3749040" cy="658368"/>
          </a:xfrm>
          <a:prstGeom prst="roundRect">
            <a:avLst>
              <a:gd name="adj" fmla="val 13889"/>
            </a:avLst>
          </a:prstGeom>
          <a:solidFill>
            <a:srgbClr val="0F1E35"/>
          </a:solidFill>
          <a:ln w="15240">
            <a:solidFill>
              <a:srgbClr val="FFB800"/>
            </a:solidFill>
            <a:prstDash val="solid"/>
          </a:ln>
          <a:effectLst>
            <a:outerShdw sx="100000" sy="100000" kx="0" ky="0" algn="bl" rotWithShape="0" blurRad="127000" dist="38100" dir="2700000">
              <a:srgbClr val="000000">
                <a:alpha val="25000"/>
              </a:srgbClr>
            </a:outerShdw>
          </a:effectLst>
        </p:spPr>
      </p:sp>
      <p:pic>
        <p:nvPicPr>
          <p:cNvPr id="11" name="Image 1" descr="preencoded.png"/>
          <p:cNvPicPr>
            <a:picLocks noChangeAspect="1"/>
          </p:cNvPicPr>
          <p:nvPr/>
        </p:nvPicPr>
        <p:blipFill>
          <a:blip r:embed="rId2"/>
          <a:stretch>
            <a:fillRect/>
          </a:stretch>
        </p:blipFill>
        <p:spPr>
          <a:xfrm>
            <a:off x="5074920" y="1481328"/>
            <a:ext cx="438912" cy="438912"/>
          </a:xfrm>
          <a:prstGeom prst="rect">
            <a:avLst/>
          </a:prstGeom>
        </p:spPr>
      </p:pic>
      <p:sp>
        <p:nvSpPr>
          <p:cNvPr id="12" name="Text 8"/>
          <p:cNvSpPr/>
          <p:nvPr/>
        </p:nvSpPr>
        <p:spPr>
          <a:xfrm>
            <a:off x="5623560" y="1517904"/>
            <a:ext cx="2743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 1: Auto</a:t>
            </a:r>
            <a:endParaRPr lang="en-US" sz="1300" dirty="0"/>
          </a:p>
        </p:txBody>
      </p:sp>
      <p:sp>
        <p:nvSpPr>
          <p:cNvPr id="13" name="Shape 9"/>
          <p:cNvSpPr/>
          <p:nvPr/>
        </p:nvSpPr>
        <p:spPr>
          <a:xfrm>
            <a:off x="6720840" y="2029968"/>
            <a:ext cx="0" cy="164592"/>
          </a:xfrm>
          <a:prstGeom prst="line">
            <a:avLst/>
          </a:prstGeom>
          <a:noFill/>
          <a:ln w="25400">
            <a:solidFill>
              <a:srgbClr val="0A2342"/>
            </a:solidFill>
            <a:prstDash val="dash"/>
          </a:ln>
        </p:spPr>
      </p:sp>
      <p:sp>
        <p:nvSpPr>
          <p:cNvPr id="14" name="Shape 10"/>
          <p:cNvSpPr/>
          <p:nvPr/>
        </p:nvSpPr>
        <p:spPr>
          <a:xfrm>
            <a:off x="4846320" y="2194560"/>
            <a:ext cx="3749040" cy="658368"/>
          </a:xfrm>
          <a:prstGeom prst="roundRect">
            <a:avLst>
              <a:gd name="adj" fmla="val 13889"/>
            </a:avLst>
          </a:prstGeom>
          <a:solidFill>
            <a:srgbClr val="0F1E35"/>
          </a:solidFill>
          <a:ln w="15240">
            <a:solidFill>
              <a:srgbClr val="00D4A0"/>
            </a:solidFill>
            <a:prstDash val="solid"/>
          </a:ln>
          <a:effectLst>
            <a:outerShdw sx="100000" sy="100000" kx="0" ky="0" algn="bl" rotWithShape="0" blurRad="127000" dist="38100" dir="2700000">
              <a:srgbClr val="000000">
                <a:alpha val="25000"/>
              </a:srgbClr>
            </a:outerShdw>
          </a:effectLst>
        </p:spPr>
      </p:sp>
      <p:pic>
        <p:nvPicPr>
          <p:cNvPr id="15" name="Image 2" descr="preencoded.png"/>
          <p:cNvPicPr>
            <a:picLocks noChangeAspect="1"/>
          </p:cNvPicPr>
          <p:nvPr/>
        </p:nvPicPr>
        <p:blipFill>
          <a:blip r:embed="rId3"/>
          <a:stretch>
            <a:fillRect/>
          </a:stretch>
        </p:blipFill>
        <p:spPr>
          <a:xfrm>
            <a:off x="5074920" y="2304288"/>
            <a:ext cx="438912" cy="438912"/>
          </a:xfrm>
          <a:prstGeom prst="rect">
            <a:avLst/>
          </a:prstGeom>
        </p:spPr>
      </p:pic>
      <p:sp>
        <p:nvSpPr>
          <p:cNvPr id="16" name="Text 11"/>
          <p:cNvSpPr/>
          <p:nvPr/>
        </p:nvSpPr>
        <p:spPr>
          <a:xfrm>
            <a:off x="5623560" y="2340864"/>
            <a:ext cx="2743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 2: APSRTC Bus</a:t>
            </a:r>
            <a:endParaRPr lang="en-US" sz="1300" dirty="0"/>
          </a:p>
        </p:txBody>
      </p:sp>
      <p:sp>
        <p:nvSpPr>
          <p:cNvPr id="17" name="Shape 12"/>
          <p:cNvSpPr/>
          <p:nvPr/>
        </p:nvSpPr>
        <p:spPr>
          <a:xfrm>
            <a:off x="6720840" y="2852928"/>
            <a:ext cx="0" cy="164592"/>
          </a:xfrm>
          <a:prstGeom prst="line">
            <a:avLst/>
          </a:prstGeom>
          <a:noFill/>
          <a:ln w="25400">
            <a:solidFill>
              <a:srgbClr val="0A2342"/>
            </a:solidFill>
            <a:prstDash val="dash"/>
          </a:ln>
        </p:spPr>
      </p:sp>
      <p:sp>
        <p:nvSpPr>
          <p:cNvPr id="18" name="Shape 13"/>
          <p:cNvSpPr/>
          <p:nvPr/>
        </p:nvSpPr>
        <p:spPr>
          <a:xfrm>
            <a:off x="4846320" y="3017520"/>
            <a:ext cx="3749040" cy="658368"/>
          </a:xfrm>
          <a:prstGeom prst="roundRect">
            <a:avLst>
              <a:gd name="adj" fmla="val 13889"/>
            </a:avLst>
          </a:prstGeom>
          <a:solidFill>
            <a:srgbClr val="0F1E35"/>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19" name="Image 3" descr="preencoded.png"/>
          <p:cNvPicPr>
            <a:picLocks noChangeAspect="1"/>
          </p:cNvPicPr>
          <p:nvPr/>
        </p:nvPicPr>
        <p:blipFill>
          <a:blip r:embed="rId4"/>
          <a:stretch>
            <a:fillRect/>
          </a:stretch>
        </p:blipFill>
        <p:spPr>
          <a:xfrm>
            <a:off x="5074920" y="3127248"/>
            <a:ext cx="438912" cy="438912"/>
          </a:xfrm>
          <a:prstGeom prst="rect">
            <a:avLst/>
          </a:prstGeom>
        </p:spPr>
      </p:pic>
      <p:sp>
        <p:nvSpPr>
          <p:cNvPr id="20" name="Text 14"/>
          <p:cNvSpPr/>
          <p:nvPr/>
        </p:nvSpPr>
        <p:spPr>
          <a:xfrm>
            <a:off x="5623560" y="3163824"/>
            <a:ext cx="2743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 3: Walking Route</a:t>
            </a:r>
            <a:endParaRPr lang="en-US" sz="1300" dirty="0"/>
          </a:p>
        </p:txBody>
      </p:sp>
      <p:sp>
        <p:nvSpPr>
          <p:cNvPr id="21" name="Shape 15"/>
          <p:cNvSpPr/>
          <p:nvPr/>
        </p:nvSpPr>
        <p:spPr>
          <a:xfrm>
            <a:off x="6720840" y="3675888"/>
            <a:ext cx="0" cy="164592"/>
          </a:xfrm>
          <a:prstGeom prst="line">
            <a:avLst/>
          </a:prstGeom>
          <a:noFill/>
          <a:ln w="25400">
            <a:solidFill>
              <a:srgbClr val="0A2342"/>
            </a:solidFill>
            <a:prstDash val="dash"/>
          </a:ln>
        </p:spPr>
      </p:sp>
      <p:sp>
        <p:nvSpPr>
          <p:cNvPr id="22" name="Shape 16"/>
          <p:cNvSpPr/>
          <p:nvPr/>
        </p:nvSpPr>
        <p:spPr>
          <a:xfrm>
            <a:off x="4846320" y="3840480"/>
            <a:ext cx="3749040" cy="658368"/>
          </a:xfrm>
          <a:prstGeom prst="roundRect">
            <a:avLst>
              <a:gd name="adj" fmla="val 13889"/>
            </a:avLst>
          </a:prstGeom>
          <a:solidFill>
            <a:srgbClr val="0F1E35"/>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23" name="Image 4" descr="preencoded.png"/>
          <p:cNvPicPr>
            <a:picLocks noChangeAspect="1"/>
          </p:cNvPicPr>
          <p:nvPr/>
        </p:nvPicPr>
        <p:blipFill>
          <a:blip r:embed="rId5"/>
          <a:stretch>
            <a:fillRect/>
          </a:stretch>
        </p:blipFill>
        <p:spPr>
          <a:xfrm>
            <a:off x="5074920" y="3950208"/>
            <a:ext cx="438912" cy="438912"/>
          </a:xfrm>
          <a:prstGeom prst="rect">
            <a:avLst/>
          </a:prstGeom>
        </p:spPr>
      </p:pic>
      <p:sp>
        <p:nvSpPr>
          <p:cNvPr id="24" name="Text 17"/>
          <p:cNvSpPr/>
          <p:nvPr/>
        </p:nvSpPr>
        <p:spPr>
          <a:xfrm>
            <a:off x="5623560" y="3986784"/>
            <a:ext cx="2743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 4: Home</a:t>
            </a:r>
            <a:endParaRPr lang="en-US" sz="1300" dirty="0"/>
          </a:p>
        </p:txBody>
      </p:sp>
      <p:sp>
        <p:nvSpPr>
          <p:cNvPr id="25" name="Shape 18"/>
          <p:cNvSpPr/>
          <p:nvPr/>
        </p:nvSpPr>
        <p:spPr>
          <a:xfrm>
            <a:off x="4846320" y="4663440"/>
            <a:ext cx="3749040" cy="411480"/>
          </a:xfrm>
          <a:prstGeom prst="roundRect">
            <a:avLst>
              <a:gd name="adj" fmla="val 22222"/>
            </a:avLst>
          </a:prstGeom>
          <a:solidFill>
            <a:srgbClr val="FF4D6A">
              <a:alpha val="25000"/>
            </a:srgbClr>
          </a:solidFill>
          <a:ln w="12700">
            <a:solidFill>
              <a:srgbClr val="FF4D6A"/>
            </a:solidFill>
            <a:prstDash val="solid"/>
          </a:ln>
        </p:spPr>
      </p:sp>
      <p:sp>
        <p:nvSpPr>
          <p:cNvPr id="26" name="Text 19"/>
          <p:cNvSpPr/>
          <p:nvPr/>
        </p:nvSpPr>
        <p:spPr>
          <a:xfrm>
            <a:off x="4846320" y="4663440"/>
            <a:ext cx="3749040" cy="411480"/>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She is not alone — millions face this daily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D6A"/>
          </a:solidFill>
          <a:ln w="12700">
            <a:solidFill>
              <a:srgbClr val="FF4D6A"/>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Urban Mobility Has a Trust Problem</a:t>
            </a:r>
            <a:endParaRPr lang="en-US" sz="2800" dirty="0"/>
          </a:p>
        </p:txBody>
      </p:sp>
      <p:sp>
        <p:nvSpPr>
          <p:cNvPr id="4" name="Shape 2"/>
          <p:cNvSpPr/>
          <p:nvPr/>
        </p:nvSpPr>
        <p:spPr>
          <a:xfrm>
            <a:off x="274320" y="868680"/>
            <a:ext cx="1993392" cy="1280160"/>
          </a:xfrm>
          <a:prstGeom prst="roundRect">
            <a:avLst>
              <a:gd name="adj" fmla="val 8571"/>
            </a:avLst>
          </a:prstGeom>
          <a:solidFill>
            <a:srgbClr val="F5F7FA"/>
          </a:solidFill>
          <a:ln w="19050">
            <a:solidFill>
              <a:srgbClr val="FF4D6A"/>
            </a:solidFill>
            <a:prstDash val="solid"/>
          </a:ln>
          <a:effectLst>
            <a:outerShdw sx="100000" sy="100000" kx="0" ky="0" algn="bl" rotWithShape="0" blurRad="127000" dist="38100" dir="2700000">
              <a:srgbClr val="000000">
                <a:alpha val="25000"/>
              </a:srgbClr>
            </a:outerShdw>
          </a:effectLst>
        </p:spPr>
      </p:sp>
      <p:sp>
        <p:nvSpPr>
          <p:cNvPr id="5" name="Text 3"/>
          <p:cNvSpPr/>
          <p:nvPr/>
        </p:nvSpPr>
        <p:spPr>
          <a:xfrm>
            <a:off x="274320" y="914400"/>
            <a:ext cx="1993392" cy="640080"/>
          </a:xfrm>
          <a:prstGeom prst="rect">
            <a:avLst/>
          </a:prstGeom>
          <a:noFill/>
          <a:ln/>
        </p:spPr>
        <p:txBody>
          <a:bodyPr wrap="square" lIns="0" tIns="0" rIns="0" bIns="0" rtlCol="0" anchor="ctr"/>
          <a:lstStyle/>
          <a:p>
            <a:pPr algn="ctr" indent="0" marL="0">
              <a:buNone/>
            </a:pPr>
            <a:r>
              <a:rPr lang="en-US" sz="3400" b="1" dirty="0">
                <a:solidFill>
                  <a:srgbClr val="FF4D6A"/>
                </a:solidFill>
                <a:latin typeface="Calibri" pitchFamily="34" charset="0"/>
                <a:ea typeface="Calibri" pitchFamily="34" charset="-122"/>
                <a:cs typeface="Calibri" pitchFamily="34" charset="-120"/>
              </a:rPr>
              <a:t>40%</a:t>
            </a:r>
            <a:endParaRPr lang="en-US" sz="3400" dirty="0"/>
          </a:p>
        </p:txBody>
      </p:sp>
      <p:sp>
        <p:nvSpPr>
          <p:cNvPr id="6" name="Text 4"/>
          <p:cNvSpPr/>
          <p:nvPr/>
        </p:nvSpPr>
        <p:spPr>
          <a:xfrm>
            <a:off x="274320" y="1536192"/>
            <a:ext cx="1993392" cy="54864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Women feel unsafe</a:t>
            </a:r>
            <a:endParaRPr lang="en-US" sz="1050" dirty="0"/>
          </a:p>
          <a:p>
            <a:pPr algn="ctr" indent="0" marL="0">
              <a:buNone/>
            </a:pPr>
            <a:r>
              <a:rPr lang="en-US" sz="1050" dirty="0">
                <a:solidFill>
                  <a:srgbClr val="555555"/>
                </a:solidFill>
                <a:latin typeface="Calibri" pitchFamily="34" charset="0"/>
                <a:ea typeface="Calibri" pitchFamily="34" charset="-122"/>
                <a:cs typeface="Calibri" pitchFamily="34" charset="-120"/>
              </a:rPr>
              <a:t>during night travel</a:t>
            </a:r>
            <a:endParaRPr lang="en-US" sz="1050" dirty="0"/>
          </a:p>
        </p:txBody>
      </p:sp>
      <p:sp>
        <p:nvSpPr>
          <p:cNvPr id="7" name="Shape 5"/>
          <p:cNvSpPr/>
          <p:nvPr/>
        </p:nvSpPr>
        <p:spPr>
          <a:xfrm>
            <a:off x="2450592" y="868680"/>
            <a:ext cx="1993392" cy="1280160"/>
          </a:xfrm>
          <a:prstGeom prst="roundRect">
            <a:avLst>
              <a:gd name="adj" fmla="val 8571"/>
            </a:avLst>
          </a:prstGeom>
          <a:solidFill>
            <a:srgbClr val="F5F7FA"/>
          </a:solidFill>
          <a:ln w="19050">
            <a:solidFill>
              <a:srgbClr val="FFB800"/>
            </a:solidFill>
            <a:prstDash val="solid"/>
          </a:ln>
          <a:effectLst>
            <a:outerShdw sx="100000" sy="100000" kx="0" ky="0" algn="bl" rotWithShape="0" blurRad="127000" dist="38100" dir="2700000">
              <a:srgbClr val="000000">
                <a:alpha val="25000"/>
              </a:srgbClr>
            </a:outerShdw>
          </a:effectLst>
        </p:spPr>
      </p:sp>
      <p:sp>
        <p:nvSpPr>
          <p:cNvPr id="8" name="Text 6"/>
          <p:cNvSpPr/>
          <p:nvPr/>
        </p:nvSpPr>
        <p:spPr>
          <a:xfrm>
            <a:off x="2450592" y="914400"/>
            <a:ext cx="1993392" cy="640080"/>
          </a:xfrm>
          <a:prstGeom prst="rect">
            <a:avLst/>
          </a:prstGeom>
          <a:noFill/>
          <a:ln/>
        </p:spPr>
        <p:txBody>
          <a:bodyPr wrap="square" lIns="0" tIns="0" rIns="0" bIns="0" rtlCol="0" anchor="ctr"/>
          <a:lstStyle/>
          <a:p>
            <a:pPr algn="ctr" indent="0" marL="0">
              <a:buNone/>
            </a:pPr>
            <a:r>
              <a:rPr lang="en-US" sz="3400" b="1" dirty="0">
                <a:solidFill>
                  <a:srgbClr val="FFB800"/>
                </a:solidFill>
                <a:latin typeface="Calibri" pitchFamily="34" charset="0"/>
                <a:ea typeface="Calibri" pitchFamily="34" charset="-122"/>
                <a:cs typeface="Calibri" pitchFamily="34" charset="-120"/>
              </a:rPr>
              <a:t>67%</a:t>
            </a:r>
            <a:endParaRPr lang="en-US" sz="3400" dirty="0"/>
          </a:p>
        </p:txBody>
      </p:sp>
      <p:sp>
        <p:nvSpPr>
          <p:cNvPr id="9" name="Text 7"/>
          <p:cNvSpPr/>
          <p:nvPr/>
        </p:nvSpPr>
        <p:spPr>
          <a:xfrm>
            <a:off x="2450592" y="1536192"/>
            <a:ext cx="1993392" cy="54864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Report route</a:t>
            </a:r>
            <a:endParaRPr lang="en-US" sz="1050" dirty="0"/>
          </a:p>
          <a:p>
            <a:pPr algn="ctr" indent="0" marL="0">
              <a:buNone/>
            </a:pPr>
            <a:r>
              <a:rPr lang="en-US" sz="1050" dirty="0">
                <a:solidFill>
                  <a:srgbClr val="555555"/>
                </a:solidFill>
                <a:latin typeface="Calibri" pitchFamily="34" charset="0"/>
                <a:ea typeface="Calibri" pitchFamily="34" charset="-122"/>
                <a:cs typeface="Calibri" pitchFamily="34" charset="-120"/>
              </a:rPr>
              <a:t>deviations go unchecked</a:t>
            </a:r>
            <a:endParaRPr lang="en-US" sz="1050" dirty="0"/>
          </a:p>
        </p:txBody>
      </p:sp>
      <p:sp>
        <p:nvSpPr>
          <p:cNvPr id="10" name="Shape 8"/>
          <p:cNvSpPr/>
          <p:nvPr/>
        </p:nvSpPr>
        <p:spPr>
          <a:xfrm>
            <a:off x="4626864" y="868680"/>
            <a:ext cx="1993392" cy="1280160"/>
          </a:xfrm>
          <a:prstGeom prst="roundRect">
            <a:avLst>
              <a:gd name="adj" fmla="val 8571"/>
            </a:avLst>
          </a:prstGeom>
          <a:solidFill>
            <a:srgbClr val="F5F7FA"/>
          </a:solidFill>
          <a:ln w="19050">
            <a:solidFill>
              <a:srgbClr val="00BFA5"/>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4626864" y="914400"/>
            <a:ext cx="1993392" cy="640080"/>
          </a:xfrm>
          <a:prstGeom prst="rect">
            <a:avLst/>
          </a:prstGeom>
          <a:noFill/>
          <a:ln/>
        </p:spPr>
        <p:txBody>
          <a:bodyPr wrap="square" lIns="0" tIns="0" rIns="0" bIns="0" rtlCol="0" anchor="ctr"/>
          <a:lstStyle/>
          <a:p>
            <a:pPr algn="ctr" indent="0" marL="0">
              <a:buNone/>
            </a:pPr>
            <a:r>
              <a:rPr lang="en-US" sz="3400" b="1" dirty="0">
                <a:solidFill>
                  <a:srgbClr val="00BFA5"/>
                </a:solidFill>
                <a:latin typeface="Calibri" pitchFamily="34" charset="0"/>
                <a:ea typeface="Calibri" pitchFamily="34" charset="-122"/>
                <a:cs typeface="Calibri" pitchFamily="34" charset="-120"/>
              </a:rPr>
              <a:t>3x</a:t>
            </a:r>
            <a:endParaRPr lang="en-US" sz="3400" dirty="0"/>
          </a:p>
        </p:txBody>
      </p:sp>
      <p:sp>
        <p:nvSpPr>
          <p:cNvPr id="12" name="Text 10"/>
          <p:cNvSpPr/>
          <p:nvPr/>
        </p:nvSpPr>
        <p:spPr>
          <a:xfrm>
            <a:off x="4626864" y="1536192"/>
            <a:ext cx="1993392" cy="54864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Higher churn after</a:t>
            </a:r>
            <a:endParaRPr lang="en-US" sz="1050" dirty="0"/>
          </a:p>
          <a:p>
            <a:pPr algn="ctr" indent="0" marL="0">
              <a:buNone/>
            </a:pPr>
            <a:r>
              <a:rPr lang="en-US" sz="1050" dirty="0">
                <a:solidFill>
                  <a:srgbClr val="555555"/>
                </a:solidFill>
                <a:latin typeface="Calibri" pitchFamily="34" charset="0"/>
                <a:ea typeface="Calibri" pitchFamily="34" charset="-122"/>
                <a:cs typeface="Calibri" pitchFamily="34" charset="-120"/>
              </a:rPr>
              <a:t>a safety incident</a:t>
            </a:r>
            <a:endParaRPr lang="en-US" sz="1050" dirty="0"/>
          </a:p>
        </p:txBody>
      </p:sp>
      <p:sp>
        <p:nvSpPr>
          <p:cNvPr id="13" name="Shape 11"/>
          <p:cNvSpPr/>
          <p:nvPr/>
        </p:nvSpPr>
        <p:spPr>
          <a:xfrm>
            <a:off x="6803136" y="868680"/>
            <a:ext cx="1993392" cy="1280160"/>
          </a:xfrm>
          <a:prstGeom prst="roundRect">
            <a:avLst>
              <a:gd name="adj" fmla="val 8571"/>
            </a:avLst>
          </a:prstGeom>
          <a:solidFill>
            <a:srgbClr val="F5F7FA"/>
          </a:solidFill>
          <a:ln w="19050">
            <a:solidFill>
              <a:srgbClr val="00BFA5"/>
            </a:solidFill>
            <a:prstDash val="solid"/>
          </a:ln>
          <a:effectLst>
            <a:outerShdw sx="100000" sy="100000" kx="0" ky="0" algn="bl" rotWithShape="0" blurRad="127000" dist="38100" dir="2700000">
              <a:srgbClr val="000000">
                <a:alpha val="25000"/>
              </a:srgbClr>
            </a:outerShdw>
          </a:effectLst>
        </p:spPr>
      </p:sp>
      <p:sp>
        <p:nvSpPr>
          <p:cNvPr id="14" name="Text 12"/>
          <p:cNvSpPr/>
          <p:nvPr/>
        </p:nvSpPr>
        <p:spPr>
          <a:xfrm>
            <a:off x="6803136" y="914400"/>
            <a:ext cx="1993392" cy="640080"/>
          </a:xfrm>
          <a:prstGeom prst="rect">
            <a:avLst/>
          </a:prstGeom>
          <a:noFill/>
          <a:ln/>
        </p:spPr>
        <p:txBody>
          <a:bodyPr wrap="square" lIns="0" tIns="0" rIns="0" bIns="0" rtlCol="0" anchor="ctr"/>
          <a:lstStyle/>
          <a:p>
            <a:pPr algn="ctr" indent="0" marL="0">
              <a:buNone/>
            </a:pPr>
            <a:r>
              <a:rPr lang="en-US" sz="3400" b="1" dirty="0">
                <a:solidFill>
                  <a:srgbClr val="00BFA5"/>
                </a:solidFill>
                <a:latin typeface="Calibri" pitchFamily="34" charset="0"/>
                <a:ea typeface="Calibri" pitchFamily="34" charset="-122"/>
                <a:cs typeface="Calibri" pitchFamily="34" charset="-120"/>
              </a:rPr>
              <a:t>0</a:t>
            </a:r>
            <a:endParaRPr lang="en-US" sz="3400" dirty="0"/>
          </a:p>
        </p:txBody>
      </p:sp>
      <p:sp>
        <p:nvSpPr>
          <p:cNvPr id="15" name="Text 13"/>
          <p:cNvSpPr/>
          <p:nvPr/>
        </p:nvSpPr>
        <p:spPr>
          <a:xfrm>
            <a:off x="6803136" y="1536192"/>
            <a:ext cx="1993392" cy="54864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Platforms with end-to-end</a:t>
            </a:r>
            <a:endParaRPr lang="en-US" sz="1050" dirty="0"/>
          </a:p>
          <a:p>
            <a:pPr algn="ctr" indent="0" marL="0">
              <a:buNone/>
            </a:pPr>
            <a:r>
              <a:rPr lang="en-US" sz="1050" dirty="0">
                <a:solidFill>
                  <a:srgbClr val="555555"/>
                </a:solidFill>
                <a:latin typeface="Calibri" pitchFamily="34" charset="0"/>
                <a:ea typeface="Calibri" pitchFamily="34" charset="-122"/>
                <a:cs typeface="Calibri" pitchFamily="34" charset="-120"/>
              </a:rPr>
              <a:t>journey protection</a:t>
            </a:r>
            <a:endParaRPr lang="en-US" sz="1050" dirty="0"/>
          </a:p>
        </p:txBody>
      </p:sp>
      <p:sp>
        <p:nvSpPr>
          <p:cNvPr id="16" name="Shape 14"/>
          <p:cNvSpPr/>
          <p:nvPr/>
        </p:nvSpPr>
        <p:spPr>
          <a:xfrm>
            <a:off x="320040" y="2331720"/>
            <a:ext cx="4069080" cy="2606040"/>
          </a:xfrm>
          <a:prstGeom prst="roundRect">
            <a:avLst>
              <a:gd name="adj" fmla="val 4211"/>
            </a:avLst>
          </a:prstGeom>
          <a:solidFill>
            <a:srgbClr val="F5F7FA"/>
          </a:solidFill>
          <a:ln w="12700">
            <a:solidFill>
              <a:srgbClr val="FF4D6A"/>
            </a:solidFill>
            <a:prstDash val="solid"/>
          </a:ln>
          <a:effectLst>
            <a:outerShdw sx="100000" sy="100000" kx="0" ky="0" algn="bl" rotWithShape="0" blurRad="127000" dist="38100" dir="2700000">
              <a:srgbClr val="000000">
                <a:alpha val="25000"/>
              </a:srgbClr>
            </a:outerShdw>
          </a:effectLst>
        </p:spPr>
      </p:sp>
      <p:pic>
        <p:nvPicPr>
          <p:cNvPr id="17" name="Image 0" descr="preencoded.png"/>
          <p:cNvPicPr>
            <a:picLocks noChangeAspect="1"/>
          </p:cNvPicPr>
          <p:nvPr/>
        </p:nvPicPr>
        <p:blipFill>
          <a:blip r:embed="rId1"/>
          <a:stretch>
            <a:fillRect/>
          </a:stretch>
        </p:blipFill>
        <p:spPr>
          <a:xfrm>
            <a:off x="484632" y="2423160"/>
            <a:ext cx="411480" cy="411480"/>
          </a:xfrm>
          <a:prstGeom prst="rect">
            <a:avLst/>
          </a:prstGeom>
        </p:spPr>
      </p:pic>
      <p:sp>
        <p:nvSpPr>
          <p:cNvPr id="18" name="Text 15"/>
          <p:cNvSpPr/>
          <p:nvPr/>
        </p:nvSpPr>
        <p:spPr>
          <a:xfrm>
            <a:off x="978408" y="2450592"/>
            <a:ext cx="3200400" cy="384048"/>
          </a:xfrm>
          <a:prstGeom prst="rect">
            <a:avLst/>
          </a:prstGeom>
          <a:noFill/>
          <a:ln/>
        </p:spPr>
        <p:txBody>
          <a:bodyPr wrap="square" lIns="0" tIns="0" rIns="0" bIns="0" rtlCol="0" anchor="ctr"/>
          <a:lstStyle/>
          <a:p>
            <a:pPr indent="0" marL="0">
              <a:buNone/>
            </a:pPr>
            <a:r>
              <a:rPr lang="en-US" sz="1400" b="1" dirty="0">
                <a:solidFill>
                  <a:srgbClr val="FF4D6A"/>
                </a:solidFill>
                <a:latin typeface="Calibri" pitchFamily="34" charset="0"/>
                <a:ea typeface="Calibri" pitchFamily="34" charset="-122"/>
                <a:cs typeface="Calibri" pitchFamily="34" charset="-120"/>
              </a:rPr>
              <a:t>Passenger Challenges</a:t>
            </a:r>
            <a:endParaRPr lang="en-US" sz="1400" dirty="0"/>
          </a:p>
        </p:txBody>
      </p:sp>
      <p:sp>
        <p:nvSpPr>
          <p:cNvPr id="19" name="Text 16"/>
          <p:cNvSpPr/>
          <p:nvPr/>
        </p:nvSpPr>
        <p:spPr>
          <a:xfrm>
            <a:off x="548640" y="2926080"/>
            <a:ext cx="3657600" cy="1920240"/>
          </a:xfrm>
          <a:prstGeom prst="rect">
            <a:avLst/>
          </a:prstGeom>
          <a:noFill/>
          <a:ln/>
        </p:spPr>
        <p:txBody>
          <a:bodyPr wrap="square" lIns="0" tIns="0" rIns="0" bIns="0" rtlCol="0" anchor="ctr"/>
          <a:lstStyle/>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Safety concerns at night</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Route deviations ignored</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Surge pricing opacity</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Ride cancellations</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Unsafe walking routes</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No journey-wide protection</a:t>
            </a:r>
            <a:endParaRPr lang="en-US" sz="1150" dirty="0"/>
          </a:p>
        </p:txBody>
      </p:sp>
      <p:sp>
        <p:nvSpPr>
          <p:cNvPr id="20" name="Shape 17"/>
          <p:cNvSpPr/>
          <p:nvPr/>
        </p:nvSpPr>
        <p:spPr>
          <a:xfrm>
            <a:off x="4754880" y="2331720"/>
            <a:ext cx="4069080" cy="2606040"/>
          </a:xfrm>
          <a:prstGeom prst="roundRect">
            <a:avLst>
              <a:gd name="adj" fmla="val 4211"/>
            </a:avLst>
          </a:prstGeom>
          <a:solidFill>
            <a:srgbClr val="F5F7FA"/>
          </a:solidFill>
          <a:ln w="12700">
            <a:solidFill>
              <a:srgbClr val="FFB800"/>
            </a:solidFill>
            <a:prstDash val="solid"/>
          </a:ln>
          <a:effectLst>
            <a:outerShdw sx="100000" sy="100000" kx="0" ky="0" algn="bl" rotWithShape="0" blurRad="127000" dist="38100" dir="2700000">
              <a:srgbClr val="000000">
                <a:alpha val="25000"/>
              </a:srgbClr>
            </a:outerShdw>
          </a:effectLst>
        </p:spPr>
      </p:sp>
      <p:pic>
        <p:nvPicPr>
          <p:cNvPr id="21" name="Image 1" descr="preencoded.png"/>
          <p:cNvPicPr>
            <a:picLocks noChangeAspect="1"/>
          </p:cNvPicPr>
          <p:nvPr/>
        </p:nvPicPr>
        <p:blipFill>
          <a:blip r:embed="rId2"/>
          <a:stretch>
            <a:fillRect/>
          </a:stretch>
        </p:blipFill>
        <p:spPr>
          <a:xfrm>
            <a:off x="4919472" y="2423160"/>
            <a:ext cx="411480" cy="411480"/>
          </a:xfrm>
          <a:prstGeom prst="rect">
            <a:avLst/>
          </a:prstGeom>
        </p:spPr>
      </p:pic>
      <p:sp>
        <p:nvSpPr>
          <p:cNvPr id="22" name="Text 18"/>
          <p:cNvSpPr/>
          <p:nvPr/>
        </p:nvSpPr>
        <p:spPr>
          <a:xfrm>
            <a:off x="5413248" y="2450592"/>
            <a:ext cx="3200400" cy="384048"/>
          </a:xfrm>
          <a:prstGeom prst="rect">
            <a:avLst/>
          </a:prstGeom>
          <a:noFill/>
          <a:ln/>
        </p:spPr>
        <p:txBody>
          <a:bodyPr wrap="square" lIns="0" tIns="0" rIns="0" bIns="0" rtlCol="0" anchor="ctr"/>
          <a:lstStyle/>
          <a:p>
            <a:pPr indent="0" marL="0">
              <a:buNone/>
            </a:pPr>
            <a:r>
              <a:rPr lang="en-US" sz="1400" b="1" dirty="0">
                <a:solidFill>
                  <a:srgbClr val="FFB800"/>
                </a:solidFill>
                <a:latin typeface="Calibri" pitchFamily="34" charset="0"/>
                <a:ea typeface="Calibri" pitchFamily="34" charset="-122"/>
                <a:cs typeface="Calibri" pitchFamily="34" charset="-120"/>
              </a:rPr>
              <a:t>Platform Challenges</a:t>
            </a:r>
            <a:endParaRPr lang="en-US" sz="1400" dirty="0"/>
          </a:p>
        </p:txBody>
      </p:sp>
      <p:sp>
        <p:nvSpPr>
          <p:cNvPr id="23" name="Text 19"/>
          <p:cNvSpPr/>
          <p:nvPr/>
        </p:nvSpPr>
        <p:spPr>
          <a:xfrm>
            <a:off x="4983480" y="2926080"/>
            <a:ext cx="3657600" cy="1920240"/>
          </a:xfrm>
          <a:prstGeom prst="rect">
            <a:avLst/>
          </a:prstGeom>
          <a:noFill/>
          <a:ln/>
        </p:spPr>
        <p:txBody>
          <a:bodyPr wrap="square" lIns="0" tIns="0" rIns="0" bIns="0" rtlCol="0" anchor="ctr"/>
          <a:lstStyle/>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Safety incidents rising</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High customer churn</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No transparency layer</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Reactive-only SOS</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No predictive systems</a:t>
            </a:r>
            <a:endParaRPr lang="en-US" sz="1150" dirty="0"/>
          </a:p>
          <a:p>
            <a:pPr marL="342900" indent="-342900">
              <a:buSzPct val="100000"/>
              <a:buChar char="•"/>
            </a:pPr>
            <a:r>
              <a:rPr lang="en-US" sz="1150" dirty="0">
                <a:solidFill>
                  <a:srgbClr val="555555"/>
                </a:solidFill>
                <a:latin typeface="Calibri" pitchFamily="34" charset="0"/>
                <a:ea typeface="Calibri" pitchFamily="34" charset="-122"/>
                <a:cs typeface="Calibri" pitchFamily="34" charset="-120"/>
              </a:rPr>
              <a:t>Reputation risk</a:t>
            </a:r>
            <a:endParaRPr lang="en-US" sz="1150" dirty="0"/>
          </a:p>
        </p:txBody>
      </p:sp>
      <p:sp>
        <p:nvSpPr>
          <p:cNvPr id="24" name="Shape 20"/>
          <p:cNvSpPr/>
          <p:nvPr/>
        </p:nvSpPr>
        <p:spPr>
          <a:xfrm>
            <a:off x="320040" y="4617720"/>
            <a:ext cx="8503920" cy="384048"/>
          </a:xfrm>
          <a:prstGeom prst="roundRect">
            <a:avLst>
              <a:gd name="adj" fmla="val 23810"/>
            </a:avLst>
          </a:prstGeom>
          <a:solidFill>
            <a:srgbClr val="00BFA5">
              <a:alpha val="12000"/>
            </a:srgbClr>
          </a:solidFill>
          <a:ln w="12700">
            <a:solidFill>
              <a:srgbClr val="00BFA5"/>
            </a:solidFill>
            <a:prstDash val="solid"/>
          </a:ln>
        </p:spPr>
      </p:sp>
      <p:sp>
        <p:nvSpPr>
          <p:cNvPr id="25" name="Text 21"/>
          <p:cNvSpPr/>
          <p:nvPr/>
        </p:nvSpPr>
        <p:spPr>
          <a:xfrm>
            <a:off x="320040" y="4617720"/>
            <a:ext cx="8503920" cy="384048"/>
          </a:xfrm>
          <a:prstGeom prst="rect">
            <a:avLst/>
          </a:prstGeom>
          <a:noFill/>
          <a:ln/>
        </p:spPr>
        <p:txBody>
          <a:bodyPr wrap="square" lIns="0" tIns="0" rIns="0" bIns="0" rtlCol="0" anchor="ctr"/>
          <a:lstStyle/>
          <a:p>
            <a:pPr algn="ctr" indent="0" marL="0">
              <a:buNone/>
            </a:pPr>
            <a:r>
              <a:rPr lang="en-US" sz="1150" b="1" dirty="0">
                <a:solidFill>
                  <a:srgbClr val="0A2342"/>
                </a:solidFill>
                <a:latin typeface="Calibri" pitchFamily="34" charset="0"/>
                <a:ea typeface="Calibri" pitchFamily="34" charset="-122"/>
                <a:cs typeface="Calibri" pitchFamily="34" charset="-120"/>
              </a:rPr>
              <a:t>Current platforms optimize for Speed &amp; Availability — NOT for Trust, Safety or Journey Protection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B800"/>
          </a:solidFill>
          <a:ln w="12700">
            <a:solidFill>
              <a:srgbClr val="FFB800"/>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What Existing Platforms Miss</a:t>
            </a:r>
            <a:endParaRPr lang="en-US" sz="2800" dirty="0"/>
          </a:p>
        </p:txBody>
      </p:sp>
      <p:sp>
        <p:nvSpPr>
          <p:cNvPr id="4" name="Shape 2"/>
          <p:cNvSpPr/>
          <p:nvPr/>
        </p:nvSpPr>
        <p:spPr>
          <a:xfrm>
            <a:off x="274320" y="896112"/>
            <a:ext cx="1097280" cy="1097280"/>
          </a:xfrm>
          <a:prstGeom prst="ellipse">
            <a:avLst/>
          </a:prstGeom>
          <a:solidFill>
            <a:srgbClr val="F5F7FA"/>
          </a:solidFill>
          <a:ln w="25400">
            <a:solidFill>
              <a:srgbClr val="FFB800"/>
            </a:solidFill>
            <a:prstDash val="solid"/>
          </a:ln>
          <a:effectLst>
            <a:outerShdw sx="100000" sy="100000" kx="0" ky="0" algn="bl" rotWithShape="0" blurRad="127000" dist="38100" dir="2700000">
              <a:srgbClr val="000000">
                <a:alpha val="25000"/>
              </a:srgbClr>
            </a:outerShdw>
          </a:effectLst>
        </p:spPr>
      </p:sp>
      <p:pic>
        <p:nvPicPr>
          <p:cNvPr id="5" name="Image 0" descr="preencoded.png"/>
          <p:cNvPicPr>
            <a:picLocks noChangeAspect="1"/>
          </p:cNvPicPr>
          <p:nvPr/>
        </p:nvPicPr>
        <p:blipFill>
          <a:blip r:embed="rId1"/>
          <a:stretch>
            <a:fillRect/>
          </a:stretch>
        </p:blipFill>
        <p:spPr>
          <a:xfrm>
            <a:off x="530352" y="1024128"/>
            <a:ext cx="585216" cy="585216"/>
          </a:xfrm>
          <a:prstGeom prst="rect">
            <a:avLst/>
          </a:prstGeom>
        </p:spPr>
      </p:pic>
      <p:sp>
        <p:nvSpPr>
          <p:cNvPr id="6" name="Text 3"/>
          <p:cNvSpPr/>
          <p:nvPr/>
        </p:nvSpPr>
        <p:spPr>
          <a:xfrm>
            <a:off x="274320" y="2048256"/>
            <a:ext cx="1097280" cy="274320"/>
          </a:xfrm>
          <a:prstGeom prst="rect">
            <a:avLst/>
          </a:prstGeom>
          <a:noFill/>
          <a:ln/>
        </p:spPr>
        <p:txBody>
          <a:bodyPr wrap="square" lIns="0" tIns="0" rIns="0" bIns="0" rtlCol="0" anchor="ctr"/>
          <a:lstStyle/>
          <a:p>
            <a:pPr algn="ctr" indent="0" marL="0">
              <a:buNone/>
            </a:pPr>
            <a:r>
              <a:rPr lang="en-US" sz="1100" b="1" dirty="0">
                <a:solidFill>
                  <a:srgbClr val="FFB800"/>
                </a:solidFill>
                <a:latin typeface="Calibri" pitchFamily="34" charset="0"/>
                <a:ea typeface="Calibri" pitchFamily="34" charset="-122"/>
                <a:cs typeface="Calibri" pitchFamily="34" charset="-120"/>
              </a:rPr>
              <a:t>Auto</a:t>
            </a:r>
            <a:endParaRPr lang="en-US" sz="1100" dirty="0"/>
          </a:p>
        </p:txBody>
      </p:sp>
      <p:sp>
        <p:nvSpPr>
          <p:cNvPr id="7" name="Shape 4"/>
          <p:cNvSpPr/>
          <p:nvPr/>
        </p:nvSpPr>
        <p:spPr>
          <a:xfrm>
            <a:off x="1371600" y="1444752"/>
            <a:ext cx="621792" cy="0"/>
          </a:xfrm>
          <a:prstGeom prst="line">
            <a:avLst/>
          </a:prstGeom>
          <a:noFill/>
          <a:ln w="31750">
            <a:solidFill>
              <a:srgbClr val="0A2342"/>
            </a:solidFill>
            <a:prstDash val="solid"/>
          </a:ln>
        </p:spPr>
      </p:sp>
      <p:sp>
        <p:nvSpPr>
          <p:cNvPr id="8" name="Text 5"/>
          <p:cNvSpPr/>
          <p:nvPr/>
        </p:nvSpPr>
        <p:spPr>
          <a:xfrm>
            <a:off x="1737360" y="1325880"/>
            <a:ext cx="274320" cy="274320"/>
          </a:xfrm>
          <a:prstGeom prst="rect">
            <a:avLst/>
          </a:prstGeom>
          <a:noFill/>
          <a:ln/>
        </p:spPr>
        <p:txBody>
          <a:bodyPr wrap="square" lIns="0" tIns="0" rIns="0" bIns="0" rtlCol="0" anchor="ctr"/>
          <a:lstStyle/>
          <a:p>
            <a:pPr algn="ctr" indent="0" marL="0">
              <a:buNone/>
            </a:pPr>
            <a:r>
              <a:rPr lang="en-US" sz="1800" dirty="0">
                <a:solidFill>
                  <a:srgbClr val="0A2342"/>
                </a:solidFill>
              </a:rPr>
              <a:t>›</a:t>
            </a:r>
            <a:endParaRPr lang="en-US" sz="1800" dirty="0"/>
          </a:p>
        </p:txBody>
      </p:sp>
      <p:sp>
        <p:nvSpPr>
          <p:cNvPr id="9" name="Shape 6"/>
          <p:cNvSpPr/>
          <p:nvPr/>
        </p:nvSpPr>
        <p:spPr>
          <a:xfrm>
            <a:off x="1993392" y="896112"/>
            <a:ext cx="1097280" cy="1097280"/>
          </a:xfrm>
          <a:prstGeom prst="ellipse">
            <a:avLst/>
          </a:prstGeom>
          <a:solidFill>
            <a:srgbClr val="F5F7FA"/>
          </a:solidFill>
          <a:ln w="25400">
            <a:solidFill>
              <a:srgbClr val="00D4A0"/>
            </a:solidFill>
            <a:prstDash val="solid"/>
          </a:ln>
          <a:effectLst>
            <a:outerShdw sx="100000" sy="100000" kx="0" ky="0" algn="bl" rotWithShape="0" blurRad="127000" dist="38100" dir="2700000">
              <a:srgbClr val="000000">
                <a:alpha val="25000"/>
              </a:srgbClr>
            </a:outerShdw>
          </a:effectLst>
        </p:spPr>
      </p:sp>
      <p:pic>
        <p:nvPicPr>
          <p:cNvPr id="10" name="Image 1" descr="preencoded.png"/>
          <p:cNvPicPr>
            <a:picLocks noChangeAspect="1"/>
          </p:cNvPicPr>
          <p:nvPr/>
        </p:nvPicPr>
        <p:blipFill>
          <a:blip r:embed="rId2"/>
          <a:stretch>
            <a:fillRect/>
          </a:stretch>
        </p:blipFill>
        <p:spPr>
          <a:xfrm>
            <a:off x="2249424" y="1024128"/>
            <a:ext cx="585216" cy="585216"/>
          </a:xfrm>
          <a:prstGeom prst="rect">
            <a:avLst/>
          </a:prstGeom>
        </p:spPr>
      </p:pic>
      <p:sp>
        <p:nvSpPr>
          <p:cNvPr id="11" name="Text 7"/>
          <p:cNvSpPr/>
          <p:nvPr/>
        </p:nvSpPr>
        <p:spPr>
          <a:xfrm>
            <a:off x="1993392" y="2048256"/>
            <a:ext cx="1097280" cy="274320"/>
          </a:xfrm>
          <a:prstGeom prst="rect">
            <a:avLst/>
          </a:prstGeom>
          <a:noFill/>
          <a:ln/>
        </p:spPr>
        <p:txBody>
          <a:bodyPr wrap="square" lIns="0" tIns="0" rIns="0" bIns="0" rtlCol="0" anchor="ctr"/>
          <a:lstStyle/>
          <a:p>
            <a:pPr algn="ctr" indent="0" marL="0">
              <a:buNone/>
            </a:pPr>
            <a:r>
              <a:rPr lang="en-US" sz="1100" b="1" dirty="0">
                <a:solidFill>
                  <a:srgbClr val="00D4A0"/>
                </a:solidFill>
                <a:latin typeface="Calibri" pitchFamily="34" charset="0"/>
                <a:ea typeface="Calibri" pitchFamily="34" charset="-122"/>
                <a:cs typeface="Calibri" pitchFamily="34" charset="-120"/>
              </a:rPr>
              <a:t>Bus</a:t>
            </a:r>
            <a:endParaRPr lang="en-US" sz="1100" dirty="0"/>
          </a:p>
        </p:txBody>
      </p:sp>
      <p:sp>
        <p:nvSpPr>
          <p:cNvPr id="12" name="Shape 8"/>
          <p:cNvSpPr/>
          <p:nvPr/>
        </p:nvSpPr>
        <p:spPr>
          <a:xfrm>
            <a:off x="3090672" y="1444752"/>
            <a:ext cx="621792" cy="0"/>
          </a:xfrm>
          <a:prstGeom prst="line">
            <a:avLst/>
          </a:prstGeom>
          <a:noFill/>
          <a:ln w="31750">
            <a:solidFill>
              <a:srgbClr val="0A2342"/>
            </a:solidFill>
            <a:prstDash val="solid"/>
          </a:ln>
        </p:spPr>
      </p:sp>
      <p:sp>
        <p:nvSpPr>
          <p:cNvPr id="13" name="Text 9"/>
          <p:cNvSpPr/>
          <p:nvPr/>
        </p:nvSpPr>
        <p:spPr>
          <a:xfrm>
            <a:off x="3456432" y="1325880"/>
            <a:ext cx="274320" cy="274320"/>
          </a:xfrm>
          <a:prstGeom prst="rect">
            <a:avLst/>
          </a:prstGeom>
          <a:noFill/>
          <a:ln/>
        </p:spPr>
        <p:txBody>
          <a:bodyPr wrap="square" lIns="0" tIns="0" rIns="0" bIns="0" rtlCol="0" anchor="ctr"/>
          <a:lstStyle/>
          <a:p>
            <a:pPr algn="ctr" indent="0" marL="0">
              <a:buNone/>
            </a:pPr>
            <a:r>
              <a:rPr lang="en-US" sz="1800" dirty="0">
                <a:solidFill>
                  <a:srgbClr val="0A2342"/>
                </a:solidFill>
              </a:rPr>
              <a:t>›</a:t>
            </a:r>
            <a:endParaRPr lang="en-US" sz="1800" dirty="0"/>
          </a:p>
        </p:txBody>
      </p:sp>
      <p:sp>
        <p:nvSpPr>
          <p:cNvPr id="14" name="Shape 10"/>
          <p:cNvSpPr/>
          <p:nvPr/>
        </p:nvSpPr>
        <p:spPr>
          <a:xfrm>
            <a:off x="3712464" y="896112"/>
            <a:ext cx="1097280" cy="1097280"/>
          </a:xfrm>
          <a:prstGeom prst="ellipse">
            <a:avLst/>
          </a:prstGeom>
          <a:solidFill>
            <a:srgbClr val="F5F7FA"/>
          </a:solidFill>
          <a:ln w="25400">
            <a:solidFill>
              <a:srgbClr val="00BFA5"/>
            </a:solidFill>
            <a:prstDash val="solid"/>
          </a:ln>
          <a:effectLst>
            <a:outerShdw sx="100000" sy="100000" kx="0" ky="0" algn="bl" rotWithShape="0" blurRad="127000" dist="38100" dir="2700000">
              <a:srgbClr val="000000">
                <a:alpha val="25000"/>
              </a:srgbClr>
            </a:outerShdw>
          </a:effectLst>
        </p:spPr>
      </p:sp>
      <p:pic>
        <p:nvPicPr>
          <p:cNvPr id="15" name="Image 2" descr="preencoded.png"/>
          <p:cNvPicPr>
            <a:picLocks noChangeAspect="1"/>
          </p:cNvPicPr>
          <p:nvPr/>
        </p:nvPicPr>
        <p:blipFill>
          <a:blip r:embed="rId3"/>
          <a:stretch>
            <a:fillRect/>
          </a:stretch>
        </p:blipFill>
        <p:spPr>
          <a:xfrm>
            <a:off x="3968496" y="1024128"/>
            <a:ext cx="585216" cy="585216"/>
          </a:xfrm>
          <a:prstGeom prst="rect">
            <a:avLst/>
          </a:prstGeom>
        </p:spPr>
      </p:pic>
      <p:sp>
        <p:nvSpPr>
          <p:cNvPr id="16" name="Text 11"/>
          <p:cNvSpPr/>
          <p:nvPr/>
        </p:nvSpPr>
        <p:spPr>
          <a:xfrm>
            <a:off x="3712464" y="2048256"/>
            <a:ext cx="1097280" cy="274320"/>
          </a:xfrm>
          <a:prstGeom prst="rect">
            <a:avLst/>
          </a:prstGeom>
          <a:noFill/>
          <a:ln/>
        </p:spPr>
        <p:txBody>
          <a:bodyPr wrap="square" lIns="0" tIns="0" rIns="0" bIns="0" rtlCol="0" anchor="ctr"/>
          <a:lstStyle/>
          <a:p>
            <a:pPr algn="ctr" indent="0" marL="0">
              <a:buNone/>
            </a:pPr>
            <a:r>
              <a:rPr lang="en-US" sz="1100" b="1" dirty="0">
                <a:solidFill>
                  <a:srgbClr val="00BFA5"/>
                </a:solidFill>
                <a:latin typeface="Calibri" pitchFamily="34" charset="0"/>
                <a:ea typeface="Calibri" pitchFamily="34" charset="-122"/>
                <a:cs typeface="Calibri" pitchFamily="34" charset="-120"/>
              </a:rPr>
              <a:t>Metro</a:t>
            </a:r>
            <a:endParaRPr lang="en-US" sz="1100" dirty="0"/>
          </a:p>
        </p:txBody>
      </p:sp>
      <p:sp>
        <p:nvSpPr>
          <p:cNvPr id="17" name="Shape 12"/>
          <p:cNvSpPr/>
          <p:nvPr/>
        </p:nvSpPr>
        <p:spPr>
          <a:xfrm>
            <a:off x="4809744" y="1444752"/>
            <a:ext cx="621792" cy="0"/>
          </a:xfrm>
          <a:prstGeom prst="line">
            <a:avLst/>
          </a:prstGeom>
          <a:noFill/>
          <a:ln w="31750">
            <a:solidFill>
              <a:srgbClr val="0A2342"/>
            </a:solidFill>
            <a:prstDash val="solid"/>
          </a:ln>
        </p:spPr>
      </p:sp>
      <p:sp>
        <p:nvSpPr>
          <p:cNvPr id="18" name="Text 13"/>
          <p:cNvSpPr/>
          <p:nvPr/>
        </p:nvSpPr>
        <p:spPr>
          <a:xfrm>
            <a:off x="5175504" y="1325880"/>
            <a:ext cx="274320" cy="274320"/>
          </a:xfrm>
          <a:prstGeom prst="rect">
            <a:avLst/>
          </a:prstGeom>
          <a:noFill/>
          <a:ln/>
        </p:spPr>
        <p:txBody>
          <a:bodyPr wrap="square" lIns="0" tIns="0" rIns="0" bIns="0" rtlCol="0" anchor="ctr"/>
          <a:lstStyle/>
          <a:p>
            <a:pPr algn="ctr" indent="0" marL="0">
              <a:buNone/>
            </a:pPr>
            <a:r>
              <a:rPr lang="en-US" sz="1800" dirty="0">
                <a:solidFill>
                  <a:srgbClr val="0A2342"/>
                </a:solidFill>
              </a:rPr>
              <a:t>›</a:t>
            </a:r>
            <a:endParaRPr lang="en-US" sz="1800" dirty="0"/>
          </a:p>
        </p:txBody>
      </p:sp>
      <p:sp>
        <p:nvSpPr>
          <p:cNvPr id="19" name="Shape 14"/>
          <p:cNvSpPr/>
          <p:nvPr/>
        </p:nvSpPr>
        <p:spPr>
          <a:xfrm>
            <a:off x="5431536" y="896112"/>
            <a:ext cx="1097280" cy="1097280"/>
          </a:xfrm>
          <a:prstGeom prst="ellipse">
            <a:avLst/>
          </a:prstGeom>
          <a:solidFill>
            <a:srgbClr val="F5F7FA"/>
          </a:solidFill>
          <a:ln w="25400">
            <a:solidFill>
              <a:srgbClr val="00BFA5"/>
            </a:solidFill>
            <a:prstDash val="solid"/>
          </a:ln>
          <a:effectLst>
            <a:outerShdw sx="100000" sy="100000" kx="0" ky="0" algn="bl" rotWithShape="0" blurRad="127000" dist="38100" dir="2700000">
              <a:srgbClr val="000000">
                <a:alpha val="25000"/>
              </a:srgbClr>
            </a:outerShdw>
          </a:effectLst>
        </p:spPr>
      </p:sp>
      <p:pic>
        <p:nvPicPr>
          <p:cNvPr id="20" name="Image 3" descr="preencoded.png"/>
          <p:cNvPicPr>
            <a:picLocks noChangeAspect="1"/>
          </p:cNvPicPr>
          <p:nvPr/>
        </p:nvPicPr>
        <p:blipFill>
          <a:blip r:embed="rId4"/>
          <a:stretch>
            <a:fillRect/>
          </a:stretch>
        </p:blipFill>
        <p:spPr>
          <a:xfrm>
            <a:off x="5687568" y="1024128"/>
            <a:ext cx="585216" cy="585216"/>
          </a:xfrm>
          <a:prstGeom prst="rect">
            <a:avLst/>
          </a:prstGeom>
        </p:spPr>
      </p:pic>
      <p:sp>
        <p:nvSpPr>
          <p:cNvPr id="21" name="Text 15"/>
          <p:cNvSpPr/>
          <p:nvPr/>
        </p:nvSpPr>
        <p:spPr>
          <a:xfrm>
            <a:off x="5431536" y="2048256"/>
            <a:ext cx="1097280" cy="274320"/>
          </a:xfrm>
          <a:prstGeom prst="rect">
            <a:avLst/>
          </a:prstGeom>
          <a:noFill/>
          <a:ln/>
        </p:spPr>
        <p:txBody>
          <a:bodyPr wrap="square" lIns="0" tIns="0" rIns="0" bIns="0" rtlCol="0" anchor="ctr"/>
          <a:lstStyle/>
          <a:p>
            <a:pPr algn="ctr" indent="0" marL="0">
              <a:buNone/>
            </a:pPr>
            <a:r>
              <a:rPr lang="en-US" sz="1100" b="1" dirty="0">
                <a:solidFill>
                  <a:srgbClr val="00BFA5"/>
                </a:solidFill>
                <a:latin typeface="Calibri" pitchFamily="34" charset="0"/>
                <a:ea typeface="Calibri" pitchFamily="34" charset="-122"/>
                <a:cs typeface="Calibri" pitchFamily="34" charset="-120"/>
              </a:rPr>
              <a:t>Walk</a:t>
            </a:r>
            <a:endParaRPr lang="en-US" sz="1100" dirty="0"/>
          </a:p>
        </p:txBody>
      </p:sp>
      <p:sp>
        <p:nvSpPr>
          <p:cNvPr id="22" name="Shape 16"/>
          <p:cNvSpPr/>
          <p:nvPr/>
        </p:nvSpPr>
        <p:spPr>
          <a:xfrm>
            <a:off x="6528816" y="1444752"/>
            <a:ext cx="621792" cy="0"/>
          </a:xfrm>
          <a:prstGeom prst="line">
            <a:avLst/>
          </a:prstGeom>
          <a:noFill/>
          <a:ln w="31750">
            <a:solidFill>
              <a:srgbClr val="0A2342"/>
            </a:solidFill>
            <a:prstDash val="solid"/>
          </a:ln>
        </p:spPr>
      </p:sp>
      <p:sp>
        <p:nvSpPr>
          <p:cNvPr id="23" name="Text 17"/>
          <p:cNvSpPr/>
          <p:nvPr/>
        </p:nvSpPr>
        <p:spPr>
          <a:xfrm>
            <a:off x="6894576" y="1325880"/>
            <a:ext cx="274320" cy="274320"/>
          </a:xfrm>
          <a:prstGeom prst="rect">
            <a:avLst/>
          </a:prstGeom>
          <a:noFill/>
          <a:ln/>
        </p:spPr>
        <p:txBody>
          <a:bodyPr wrap="square" lIns="0" tIns="0" rIns="0" bIns="0" rtlCol="0" anchor="ctr"/>
          <a:lstStyle/>
          <a:p>
            <a:pPr algn="ctr" indent="0" marL="0">
              <a:buNone/>
            </a:pPr>
            <a:r>
              <a:rPr lang="en-US" sz="1800" dirty="0">
                <a:solidFill>
                  <a:srgbClr val="0A2342"/>
                </a:solidFill>
              </a:rPr>
              <a:t>›</a:t>
            </a:r>
            <a:endParaRPr lang="en-US" sz="1800" dirty="0"/>
          </a:p>
        </p:txBody>
      </p:sp>
      <p:sp>
        <p:nvSpPr>
          <p:cNvPr id="24" name="Shape 18"/>
          <p:cNvSpPr/>
          <p:nvPr/>
        </p:nvSpPr>
        <p:spPr>
          <a:xfrm>
            <a:off x="7150608" y="896112"/>
            <a:ext cx="1097280" cy="1097280"/>
          </a:xfrm>
          <a:prstGeom prst="ellipse">
            <a:avLst/>
          </a:prstGeom>
          <a:solidFill>
            <a:srgbClr val="F5F7FA"/>
          </a:solidFill>
          <a:ln w="25400">
            <a:solidFill>
              <a:srgbClr val="0A2342"/>
            </a:solidFill>
            <a:prstDash val="solid"/>
          </a:ln>
          <a:effectLst>
            <a:outerShdw sx="100000" sy="100000" kx="0" ky="0" algn="bl" rotWithShape="0" blurRad="127000" dist="38100" dir="2700000">
              <a:srgbClr val="000000">
                <a:alpha val="25000"/>
              </a:srgbClr>
            </a:outerShdw>
          </a:effectLst>
        </p:spPr>
      </p:sp>
      <p:pic>
        <p:nvPicPr>
          <p:cNvPr id="25" name="Image 4" descr="preencoded.png"/>
          <p:cNvPicPr>
            <a:picLocks noChangeAspect="1"/>
          </p:cNvPicPr>
          <p:nvPr/>
        </p:nvPicPr>
        <p:blipFill>
          <a:blip r:embed="rId5"/>
          <a:stretch>
            <a:fillRect/>
          </a:stretch>
        </p:blipFill>
        <p:spPr>
          <a:xfrm>
            <a:off x="7406640" y="1024128"/>
            <a:ext cx="585216" cy="585216"/>
          </a:xfrm>
          <a:prstGeom prst="rect">
            <a:avLst/>
          </a:prstGeom>
        </p:spPr>
      </p:pic>
      <p:sp>
        <p:nvSpPr>
          <p:cNvPr id="26" name="Text 19"/>
          <p:cNvSpPr/>
          <p:nvPr/>
        </p:nvSpPr>
        <p:spPr>
          <a:xfrm>
            <a:off x="7150608" y="2048256"/>
            <a:ext cx="1097280" cy="274320"/>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Home</a:t>
            </a:r>
            <a:endParaRPr lang="en-US" sz="1100" dirty="0"/>
          </a:p>
        </p:txBody>
      </p:sp>
      <p:sp>
        <p:nvSpPr>
          <p:cNvPr id="27" name="Shape 20"/>
          <p:cNvSpPr/>
          <p:nvPr/>
        </p:nvSpPr>
        <p:spPr>
          <a:xfrm>
            <a:off x="274320" y="2514600"/>
            <a:ext cx="2926080" cy="384048"/>
          </a:xfrm>
          <a:prstGeom prst="rect">
            <a:avLst/>
          </a:prstGeom>
          <a:solidFill>
            <a:srgbClr val="0E3A5C"/>
          </a:solidFill>
          <a:ln w="6350">
            <a:solidFill>
              <a:srgbClr val="FFFFFF"/>
            </a:solidFill>
            <a:prstDash val="solid"/>
          </a:ln>
        </p:spPr>
      </p:sp>
      <p:sp>
        <p:nvSpPr>
          <p:cNvPr id="28" name="Text 21"/>
          <p:cNvSpPr/>
          <p:nvPr/>
        </p:nvSpPr>
        <p:spPr>
          <a:xfrm>
            <a:off x="274320" y="2514600"/>
            <a:ext cx="2926080" cy="384048"/>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Feature</a:t>
            </a:r>
            <a:endParaRPr lang="en-US" sz="1300" dirty="0"/>
          </a:p>
        </p:txBody>
      </p:sp>
      <p:sp>
        <p:nvSpPr>
          <p:cNvPr id="29" name="Shape 22"/>
          <p:cNvSpPr/>
          <p:nvPr/>
        </p:nvSpPr>
        <p:spPr>
          <a:xfrm>
            <a:off x="3200400" y="2514600"/>
            <a:ext cx="2377440" cy="384048"/>
          </a:xfrm>
          <a:prstGeom prst="rect">
            <a:avLst/>
          </a:prstGeom>
          <a:solidFill>
            <a:srgbClr val="FF4D6A"/>
          </a:solidFill>
          <a:ln w="6350">
            <a:solidFill>
              <a:srgbClr val="FFFFFF"/>
            </a:solidFill>
            <a:prstDash val="solid"/>
          </a:ln>
        </p:spPr>
      </p:sp>
      <p:sp>
        <p:nvSpPr>
          <p:cNvPr id="30" name="Text 23"/>
          <p:cNvSpPr/>
          <p:nvPr/>
        </p:nvSpPr>
        <p:spPr>
          <a:xfrm>
            <a:off x="3200400" y="2514600"/>
            <a:ext cx="2377440" cy="384048"/>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Current Apps</a:t>
            </a:r>
            <a:endParaRPr lang="en-US" sz="1300" dirty="0"/>
          </a:p>
        </p:txBody>
      </p:sp>
      <p:sp>
        <p:nvSpPr>
          <p:cNvPr id="31" name="Shape 24"/>
          <p:cNvSpPr/>
          <p:nvPr/>
        </p:nvSpPr>
        <p:spPr>
          <a:xfrm>
            <a:off x="5577840" y="2514600"/>
            <a:ext cx="3108960" cy="384048"/>
          </a:xfrm>
          <a:prstGeom prst="rect">
            <a:avLst/>
          </a:prstGeom>
          <a:solidFill>
            <a:srgbClr val="00D4A0"/>
          </a:solidFill>
          <a:ln w="6350">
            <a:solidFill>
              <a:srgbClr val="FFFFFF"/>
            </a:solidFill>
            <a:prstDash val="solid"/>
          </a:ln>
        </p:spPr>
      </p:sp>
      <p:sp>
        <p:nvSpPr>
          <p:cNvPr id="32" name="Text 25"/>
          <p:cNvSpPr/>
          <p:nvPr/>
        </p:nvSpPr>
        <p:spPr>
          <a:xfrm>
            <a:off x="5577840" y="2514600"/>
            <a:ext cx="3108960" cy="384048"/>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Travix AI</a:t>
            </a:r>
            <a:endParaRPr lang="en-US" sz="1300" dirty="0"/>
          </a:p>
        </p:txBody>
      </p:sp>
      <p:sp>
        <p:nvSpPr>
          <p:cNvPr id="33" name="Shape 26"/>
          <p:cNvSpPr/>
          <p:nvPr/>
        </p:nvSpPr>
        <p:spPr>
          <a:xfrm>
            <a:off x="274320" y="2898648"/>
            <a:ext cx="2926080" cy="347472"/>
          </a:xfrm>
          <a:prstGeom prst="rect">
            <a:avLst/>
          </a:prstGeom>
          <a:solidFill>
            <a:srgbClr val="F5F7FA"/>
          </a:solidFill>
          <a:ln w="6350">
            <a:solidFill>
              <a:srgbClr val="0E3A5C"/>
            </a:solidFill>
            <a:prstDash val="solid"/>
          </a:ln>
        </p:spPr>
      </p:sp>
      <p:sp>
        <p:nvSpPr>
          <p:cNvPr id="34" name="Text 27"/>
          <p:cNvSpPr/>
          <p:nvPr/>
        </p:nvSpPr>
        <p:spPr>
          <a:xfrm>
            <a:off x="365760" y="2898648"/>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Multi-modal protection</a:t>
            </a:r>
            <a:endParaRPr lang="en-US" sz="1150" dirty="0"/>
          </a:p>
        </p:txBody>
      </p:sp>
      <p:sp>
        <p:nvSpPr>
          <p:cNvPr id="35" name="Shape 28"/>
          <p:cNvSpPr/>
          <p:nvPr/>
        </p:nvSpPr>
        <p:spPr>
          <a:xfrm>
            <a:off x="3200400" y="2898648"/>
            <a:ext cx="2377440" cy="347472"/>
          </a:xfrm>
          <a:prstGeom prst="rect">
            <a:avLst/>
          </a:prstGeom>
          <a:solidFill>
            <a:srgbClr val="F5F7FA"/>
          </a:solidFill>
          <a:ln w="6350">
            <a:solidFill>
              <a:srgbClr val="0E3A5C"/>
            </a:solidFill>
            <a:prstDash val="solid"/>
          </a:ln>
        </p:spPr>
      </p:sp>
      <p:sp>
        <p:nvSpPr>
          <p:cNvPr id="36" name="Text 29"/>
          <p:cNvSpPr/>
          <p:nvPr/>
        </p:nvSpPr>
        <p:spPr>
          <a:xfrm>
            <a:off x="3291840" y="2898648"/>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No</a:t>
            </a:r>
            <a:endParaRPr lang="en-US" sz="1150" dirty="0"/>
          </a:p>
        </p:txBody>
      </p:sp>
      <p:sp>
        <p:nvSpPr>
          <p:cNvPr id="37" name="Shape 30"/>
          <p:cNvSpPr/>
          <p:nvPr/>
        </p:nvSpPr>
        <p:spPr>
          <a:xfrm>
            <a:off x="5577840" y="2898648"/>
            <a:ext cx="3108960" cy="347472"/>
          </a:xfrm>
          <a:prstGeom prst="rect">
            <a:avLst/>
          </a:prstGeom>
          <a:solidFill>
            <a:srgbClr val="F5F7FA"/>
          </a:solidFill>
          <a:ln w="6350">
            <a:solidFill>
              <a:srgbClr val="0E3A5C"/>
            </a:solidFill>
            <a:prstDash val="solid"/>
          </a:ln>
        </p:spPr>
      </p:sp>
      <p:sp>
        <p:nvSpPr>
          <p:cNvPr id="38" name="Text 31"/>
          <p:cNvSpPr/>
          <p:nvPr/>
        </p:nvSpPr>
        <p:spPr>
          <a:xfrm>
            <a:off x="5669280" y="2898648"/>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Yes</a:t>
            </a:r>
            <a:endParaRPr lang="en-US" sz="1150" dirty="0"/>
          </a:p>
        </p:txBody>
      </p:sp>
      <p:sp>
        <p:nvSpPr>
          <p:cNvPr id="39" name="Shape 32"/>
          <p:cNvSpPr/>
          <p:nvPr/>
        </p:nvSpPr>
        <p:spPr>
          <a:xfrm>
            <a:off x="274320" y="3246120"/>
            <a:ext cx="2926080" cy="347472"/>
          </a:xfrm>
          <a:prstGeom prst="rect">
            <a:avLst/>
          </a:prstGeom>
          <a:solidFill>
            <a:srgbClr val="0F1E35"/>
          </a:solidFill>
          <a:ln w="6350">
            <a:solidFill>
              <a:srgbClr val="0E3A5C"/>
            </a:solidFill>
            <a:prstDash val="solid"/>
          </a:ln>
        </p:spPr>
      </p:sp>
      <p:sp>
        <p:nvSpPr>
          <p:cNvPr id="40" name="Text 33"/>
          <p:cNvSpPr/>
          <p:nvPr/>
        </p:nvSpPr>
        <p:spPr>
          <a:xfrm>
            <a:off x="365760" y="3246120"/>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Predictive risk analysis</a:t>
            </a:r>
            <a:endParaRPr lang="en-US" sz="1150" dirty="0"/>
          </a:p>
        </p:txBody>
      </p:sp>
      <p:sp>
        <p:nvSpPr>
          <p:cNvPr id="41" name="Shape 34"/>
          <p:cNvSpPr/>
          <p:nvPr/>
        </p:nvSpPr>
        <p:spPr>
          <a:xfrm>
            <a:off x="3200400" y="3246120"/>
            <a:ext cx="2377440" cy="347472"/>
          </a:xfrm>
          <a:prstGeom prst="rect">
            <a:avLst/>
          </a:prstGeom>
          <a:solidFill>
            <a:srgbClr val="0F1E35"/>
          </a:solidFill>
          <a:ln w="6350">
            <a:solidFill>
              <a:srgbClr val="0E3A5C"/>
            </a:solidFill>
            <a:prstDash val="solid"/>
          </a:ln>
        </p:spPr>
      </p:sp>
      <p:sp>
        <p:nvSpPr>
          <p:cNvPr id="42" name="Text 35"/>
          <p:cNvSpPr/>
          <p:nvPr/>
        </p:nvSpPr>
        <p:spPr>
          <a:xfrm>
            <a:off x="3291840" y="3246120"/>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No</a:t>
            </a:r>
            <a:endParaRPr lang="en-US" sz="1150" dirty="0"/>
          </a:p>
        </p:txBody>
      </p:sp>
      <p:sp>
        <p:nvSpPr>
          <p:cNvPr id="43" name="Shape 36"/>
          <p:cNvSpPr/>
          <p:nvPr/>
        </p:nvSpPr>
        <p:spPr>
          <a:xfrm>
            <a:off x="5577840" y="3246120"/>
            <a:ext cx="3108960" cy="347472"/>
          </a:xfrm>
          <a:prstGeom prst="rect">
            <a:avLst/>
          </a:prstGeom>
          <a:solidFill>
            <a:srgbClr val="0F1E35"/>
          </a:solidFill>
          <a:ln w="6350">
            <a:solidFill>
              <a:srgbClr val="0E3A5C"/>
            </a:solidFill>
            <a:prstDash val="solid"/>
          </a:ln>
        </p:spPr>
      </p:sp>
      <p:sp>
        <p:nvSpPr>
          <p:cNvPr id="44" name="Text 37"/>
          <p:cNvSpPr/>
          <p:nvPr/>
        </p:nvSpPr>
        <p:spPr>
          <a:xfrm>
            <a:off x="5669280" y="3246120"/>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AI-powered</a:t>
            </a:r>
            <a:endParaRPr lang="en-US" sz="1150" dirty="0"/>
          </a:p>
        </p:txBody>
      </p:sp>
      <p:sp>
        <p:nvSpPr>
          <p:cNvPr id="45" name="Shape 38"/>
          <p:cNvSpPr/>
          <p:nvPr/>
        </p:nvSpPr>
        <p:spPr>
          <a:xfrm>
            <a:off x="274320" y="3593592"/>
            <a:ext cx="2926080" cy="347472"/>
          </a:xfrm>
          <a:prstGeom prst="rect">
            <a:avLst/>
          </a:prstGeom>
          <a:solidFill>
            <a:srgbClr val="F5F7FA"/>
          </a:solidFill>
          <a:ln w="6350">
            <a:solidFill>
              <a:srgbClr val="0E3A5C"/>
            </a:solidFill>
            <a:prstDash val="solid"/>
          </a:ln>
        </p:spPr>
      </p:sp>
      <p:sp>
        <p:nvSpPr>
          <p:cNvPr id="46" name="Text 39"/>
          <p:cNvSpPr/>
          <p:nvPr/>
        </p:nvSpPr>
        <p:spPr>
          <a:xfrm>
            <a:off x="365760" y="3593592"/>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Safe handover tracking</a:t>
            </a:r>
            <a:endParaRPr lang="en-US" sz="1150" dirty="0"/>
          </a:p>
        </p:txBody>
      </p:sp>
      <p:sp>
        <p:nvSpPr>
          <p:cNvPr id="47" name="Shape 40"/>
          <p:cNvSpPr/>
          <p:nvPr/>
        </p:nvSpPr>
        <p:spPr>
          <a:xfrm>
            <a:off x="3200400" y="3593592"/>
            <a:ext cx="2377440" cy="347472"/>
          </a:xfrm>
          <a:prstGeom prst="rect">
            <a:avLst/>
          </a:prstGeom>
          <a:solidFill>
            <a:srgbClr val="F5F7FA"/>
          </a:solidFill>
          <a:ln w="6350">
            <a:solidFill>
              <a:srgbClr val="0E3A5C"/>
            </a:solidFill>
            <a:prstDash val="solid"/>
          </a:ln>
        </p:spPr>
      </p:sp>
      <p:sp>
        <p:nvSpPr>
          <p:cNvPr id="48" name="Text 41"/>
          <p:cNvSpPr/>
          <p:nvPr/>
        </p:nvSpPr>
        <p:spPr>
          <a:xfrm>
            <a:off x="3291840" y="3593592"/>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No</a:t>
            </a:r>
            <a:endParaRPr lang="en-US" sz="1150" dirty="0"/>
          </a:p>
        </p:txBody>
      </p:sp>
      <p:sp>
        <p:nvSpPr>
          <p:cNvPr id="49" name="Shape 42"/>
          <p:cNvSpPr/>
          <p:nvPr/>
        </p:nvSpPr>
        <p:spPr>
          <a:xfrm>
            <a:off x="5577840" y="3593592"/>
            <a:ext cx="3108960" cy="347472"/>
          </a:xfrm>
          <a:prstGeom prst="rect">
            <a:avLst/>
          </a:prstGeom>
          <a:solidFill>
            <a:srgbClr val="F5F7FA"/>
          </a:solidFill>
          <a:ln w="6350">
            <a:solidFill>
              <a:srgbClr val="0E3A5C"/>
            </a:solidFill>
            <a:prstDash val="solid"/>
          </a:ln>
        </p:spPr>
      </p:sp>
      <p:sp>
        <p:nvSpPr>
          <p:cNvPr id="50" name="Text 43"/>
          <p:cNvSpPr/>
          <p:nvPr/>
        </p:nvSpPr>
        <p:spPr>
          <a:xfrm>
            <a:off x="5669280" y="3593592"/>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Auto → Bus → Walk</a:t>
            </a:r>
            <a:endParaRPr lang="en-US" sz="1150" dirty="0"/>
          </a:p>
        </p:txBody>
      </p:sp>
      <p:sp>
        <p:nvSpPr>
          <p:cNvPr id="51" name="Shape 44"/>
          <p:cNvSpPr/>
          <p:nvPr/>
        </p:nvSpPr>
        <p:spPr>
          <a:xfrm>
            <a:off x="274320" y="3941064"/>
            <a:ext cx="2926080" cy="347472"/>
          </a:xfrm>
          <a:prstGeom prst="rect">
            <a:avLst/>
          </a:prstGeom>
          <a:solidFill>
            <a:srgbClr val="0F1E35"/>
          </a:solidFill>
          <a:ln w="6350">
            <a:solidFill>
              <a:srgbClr val="0E3A5C"/>
            </a:solidFill>
            <a:prstDash val="solid"/>
          </a:ln>
        </p:spPr>
      </p:sp>
      <p:sp>
        <p:nvSpPr>
          <p:cNvPr id="52" name="Text 45"/>
          <p:cNvSpPr/>
          <p:nvPr/>
        </p:nvSpPr>
        <p:spPr>
          <a:xfrm>
            <a:off x="365760" y="3941064"/>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Proactive SOS alerts</a:t>
            </a:r>
            <a:endParaRPr lang="en-US" sz="1150" dirty="0"/>
          </a:p>
        </p:txBody>
      </p:sp>
      <p:sp>
        <p:nvSpPr>
          <p:cNvPr id="53" name="Shape 46"/>
          <p:cNvSpPr/>
          <p:nvPr/>
        </p:nvSpPr>
        <p:spPr>
          <a:xfrm>
            <a:off x="3200400" y="3941064"/>
            <a:ext cx="2377440" cy="347472"/>
          </a:xfrm>
          <a:prstGeom prst="rect">
            <a:avLst/>
          </a:prstGeom>
          <a:solidFill>
            <a:srgbClr val="0F1E35"/>
          </a:solidFill>
          <a:ln w="6350">
            <a:solidFill>
              <a:srgbClr val="0E3A5C"/>
            </a:solidFill>
            <a:prstDash val="solid"/>
          </a:ln>
        </p:spPr>
      </p:sp>
      <p:sp>
        <p:nvSpPr>
          <p:cNvPr id="54" name="Text 47"/>
          <p:cNvSpPr/>
          <p:nvPr/>
        </p:nvSpPr>
        <p:spPr>
          <a:xfrm>
            <a:off x="3291840" y="3941064"/>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Reactive only</a:t>
            </a:r>
            <a:endParaRPr lang="en-US" sz="1150" dirty="0"/>
          </a:p>
        </p:txBody>
      </p:sp>
      <p:sp>
        <p:nvSpPr>
          <p:cNvPr id="55" name="Shape 48"/>
          <p:cNvSpPr/>
          <p:nvPr/>
        </p:nvSpPr>
        <p:spPr>
          <a:xfrm>
            <a:off x="5577840" y="3941064"/>
            <a:ext cx="3108960" cy="347472"/>
          </a:xfrm>
          <a:prstGeom prst="rect">
            <a:avLst/>
          </a:prstGeom>
          <a:solidFill>
            <a:srgbClr val="0F1E35"/>
          </a:solidFill>
          <a:ln w="6350">
            <a:solidFill>
              <a:srgbClr val="0E3A5C"/>
            </a:solidFill>
            <a:prstDash val="solid"/>
          </a:ln>
        </p:spPr>
      </p:sp>
      <p:sp>
        <p:nvSpPr>
          <p:cNvPr id="56" name="Text 49"/>
          <p:cNvSpPr/>
          <p:nvPr/>
        </p:nvSpPr>
        <p:spPr>
          <a:xfrm>
            <a:off x="5669280" y="3941064"/>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Predictive</a:t>
            </a:r>
            <a:endParaRPr lang="en-US" sz="1150" dirty="0"/>
          </a:p>
        </p:txBody>
      </p:sp>
      <p:sp>
        <p:nvSpPr>
          <p:cNvPr id="57" name="Shape 50"/>
          <p:cNvSpPr/>
          <p:nvPr/>
        </p:nvSpPr>
        <p:spPr>
          <a:xfrm>
            <a:off x="274320" y="4288536"/>
            <a:ext cx="2926080" cy="347472"/>
          </a:xfrm>
          <a:prstGeom prst="rect">
            <a:avLst/>
          </a:prstGeom>
          <a:solidFill>
            <a:srgbClr val="F5F7FA"/>
          </a:solidFill>
          <a:ln w="6350">
            <a:solidFill>
              <a:srgbClr val="0E3A5C"/>
            </a:solidFill>
            <a:prstDash val="solid"/>
          </a:ln>
        </p:spPr>
      </p:sp>
      <p:sp>
        <p:nvSpPr>
          <p:cNvPr id="58" name="Text 51"/>
          <p:cNvSpPr/>
          <p:nvPr/>
        </p:nvSpPr>
        <p:spPr>
          <a:xfrm>
            <a:off x="365760" y="4288536"/>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Journey-wide trust score</a:t>
            </a:r>
            <a:endParaRPr lang="en-US" sz="1150" dirty="0"/>
          </a:p>
        </p:txBody>
      </p:sp>
      <p:sp>
        <p:nvSpPr>
          <p:cNvPr id="59" name="Shape 52"/>
          <p:cNvSpPr/>
          <p:nvPr/>
        </p:nvSpPr>
        <p:spPr>
          <a:xfrm>
            <a:off x="3200400" y="4288536"/>
            <a:ext cx="2377440" cy="347472"/>
          </a:xfrm>
          <a:prstGeom prst="rect">
            <a:avLst/>
          </a:prstGeom>
          <a:solidFill>
            <a:srgbClr val="F5F7FA"/>
          </a:solidFill>
          <a:ln w="6350">
            <a:solidFill>
              <a:srgbClr val="0E3A5C"/>
            </a:solidFill>
            <a:prstDash val="solid"/>
          </a:ln>
        </p:spPr>
      </p:sp>
      <p:sp>
        <p:nvSpPr>
          <p:cNvPr id="60" name="Text 53"/>
          <p:cNvSpPr/>
          <p:nvPr/>
        </p:nvSpPr>
        <p:spPr>
          <a:xfrm>
            <a:off x="3291840" y="4288536"/>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No</a:t>
            </a:r>
            <a:endParaRPr lang="en-US" sz="1150" dirty="0"/>
          </a:p>
        </p:txBody>
      </p:sp>
      <p:sp>
        <p:nvSpPr>
          <p:cNvPr id="61" name="Shape 54"/>
          <p:cNvSpPr/>
          <p:nvPr/>
        </p:nvSpPr>
        <p:spPr>
          <a:xfrm>
            <a:off x="5577840" y="4288536"/>
            <a:ext cx="3108960" cy="347472"/>
          </a:xfrm>
          <a:prstGeom prst="rect">
            <a:avLst/>
          </a:prstGeom>
          <a:solidFill>
            <a:srgbClr val="F5F7FA"/>
          </a:solidFill>
          <a:ln w="6350">
            <a:solidFill>
              <a:srgbClr val="0E3A5C"/>
            </a:solidFill>
            <a:prstDash val="solid"/>
          </a:ln>
        </p:spPr>
      </p:sp>
      <p:sp>
        <p:nvSpPr>
          <p:cNvPr id="62" name="Text 55"/>
          <p:cNvSpPr/>
          <p:nvPr/>
        </p:nvSpPr>
        <p:spPr>
          <a:xfrm>
            <a:off x="5669280" y="4288536"/>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Real-time</a:t>
            </a:r>
            <a:endParaRPr lang="en-US" sz="1150" dirty="0"/>
          </a:p>
        </p:txBody>
      </p:sp>
      <p:sp>
        <p:nvSpPr>
          <p:cNvPr id="63" name="Shape 56"/>
          <p:cNvSpPr/>
          <p:nvPr/>
        </p:nvSpPr>
        <p:spPr>
          <a:xfrm>
            <a:off x="274320" y="4636008"/>
            <a:ext cx="2926080" cy="347472"/>
          </a:xfrm>
          <a:prstGeom prst="rect">
            <a:avLst/>
          </a:prstGeom>
          <a:solidFill>
            <a:srgbClr val="0F1E35"/>
          </a:solidFill>
          <a:ln w="6350">
            <a:solidFill>
              <a:srgbClr val="0E3A5C"/>
            </a:solidFill>
            <a:prstDash val="solid"/>
          </a:ln>
        </p:spPr>
      </p:sp>
      <p:sp>
        <p:nvSpPr>
          <p:cNvPr id="64" name="Text 57"/>
          <p:cNvSpPr/>
          <p:nvPr/>
        </p:nvSpPr>
        <p:spPr>
          <a:xfrm>
            <a:off x="365760" y="4636008"/>
            <a:ext cx="2834640" cy="347472"/>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Safety heatmap</a:t>
            </a:r>
            <a:endParaRPr lang="en-US" sz="1150" dirty="0"/>
          </a:p>
        </p:txBody>
      </p:sp>
      <p:sp>
        <p:nvSpPr>
          <p:cNvPr id="65" name="Shape 58"/>
          <p:cNvSpPr/>
          <p:nvPr/>
        </p:nvSpPr>
        <p:spPr>
          <a:xfrm>
            <a:off x="3200400" y="4636008"/>
            <a:ext cx="2377440" cy="347472"/>
          </a:xfrm>
          <a:prstGeom prst="rect">
            <a:avLst/>
          </a:prstGeom>
          <a:solidFill>
            <a:srgbClr val="0F1E35"/>
          </a:solidFill>
          <a:ln w="6350">
            <a:solidFill>
              <a:srgbClr val="0E3A5C"/>
            </a:solidFill>
            <a:prstDash val="solid"/>
          </a:ln>
        </p:spPr>
      </p:sp>
      <p:sp>
        <p:nvSpPr>
          <p:cNvPr id="66" name="Text 59"/>
          <p:cNvSpPr/>
          <p:nvPr/>
        </p:nvSpPr>
        <p:spPr>
          <a:xfrm>
            <a:off x="3291840" y="4636008"/>
            <a:ext cx="2286000" cy="347472"/>
          </a:xfrm>
          <a:prstGeom prst="rect">
            <a:avLst/>
          </a:prstGeom>
          <a:noFill/>
          <a:ln/>
        </p:spPr>
        <p:txBody>
          <a:bodyPr wrap="square" lIns="0" tIns="0" rIns="0" bIns="0" rtlCol="0" anchor="ctr"/>
          <a:lstStyle/>
          <a:p>
            <a:pPr indent="0" marL="0">
              <a:buNone/>
            </a:pPr>
            <a:r>
              <a:rPr lang="en-US" sz="1150" dirty="0">
                <a:solidFill>
                  <a:srgbClr val="FF4D6A"/>
                </a:solidFill>
                <a:latin typeface="Calibri" pitchFamily="34" charset="0"/>
                <a:ea typeface="Calibri" pitchFamily="34" charset="-122"/>
                <a:cs typeface="Calibri" pitchFamily="34" charset="-120"/>
              </a:rPr>
              <a:t>❌ No</a:t>
            </a:r>
            <a:endParaRPr lang="en-US" sz="1150" dirty="0"/>
          </a:p>
        </p:txBody>
      </p:sp>
      <p:sp>
        <p:nvSpPr>
          <p:cNvPr id="67" name="Shape 60"/>
          <p:cNvSpPr/>
          <p:nvPr/>
        </p:nvSpPr>
        <p:spPr>
          <a:xfrm>
            <a:off x="5577840" y="4636008"/>
            <a:ext cx="3108960" cy="347472"/>
          </a:xfrm>
          <a:prstGeom prst="rect">
            <a:avLst/>
          </a:prstGeom>
          <a:solidFill>
            <a:srgbClr val="0F1E35"/>
          </a:solidFill>
          <a:ln w="6350">
            <a:solidFill>
              <a:srgbClr val="0E3A5C"/>
            </a:solidFill>
            <a:prstDash val="solid"/>
          </a:ln>
        </p:spPr>
      </p:sp>
      <p:sp>
        <p:nvSpPr>
          <p:cNvPr id="68" name="Text 61"/>
          <p:cNvSpPr/>
          <p:nvPr/>
        </p:nvSpPr>
        <p:spPr>
          <a:xfrm>
            <a:off x="5669280" y="4636008"/>
            <a:ext cx="3017520" cy="347472"/>
          </a:xfrm>
          <a:prstGeom prst="rect">
            <a:avLst/>
          </a:prstGeom>
          <a:noFill/>
          <a:ln/>
        </p:spPr>
        <p:txBody>
          <a:bodyPr wrap="square" lIns="0" tIns="0" rIns="0" bIns="0" rtlCol="0" anchor="ctr"/>
          <a:lstStyle/>
          <a:p>
            <a:pPr indent="0" marL="0">
              <a:buNone/>
            </a:pPr>
            <a:r>
              <a:rPr lang="en-US" sz="1150" dirty="0">
                <a:solidFill>
                  <a:srgbClr val="00D4A0"/>
                </a:solidFill>
                <a:latin typeface="Calibri" pitchFamily="34" charset="0"/>
                <a:ea typeface="Calibri" pitchFamily="34" charset="-122"/>
                <a:cs typeface="Calibri" pitchFamily="34" charset="-120"/>
              </a:rPr>
              <a:t>✅ Community-powered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A0"/>
          </a:solidFill>
          <a:ln w="12700">
            <a:solidFill>
              <a:srgbClr val="00D4A0"/>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Introducing Travix AI</a:t>
            </a:r>
            <a:endParaRPr lang="en-US" sz="2800" dirty="0"/>
          </a:p>
        </p:txBody>
      </p:sp>
      <p:sp>
        <p:nvSpPr>
          <p:cNvPr id="4" name="Shape 2"/>
          <p:cNvSpPr/>
          <p:nvPr/>
        </p:nvSpPr>
        <p:spPr>
          <a:xfrm>
            <a:off x="365760" y="804672"/>
            <a:ext cx="8412480" cy="685800"/>
          </a:xfrm>
          <a:prstGeom prst="roundRect">
            <a:avLst>
              <a:gd name="adj" fmla="val 13333"/>
            </a:avLst>
          </a:prstGeom>
          <a:solidFill>
            <a:srgbClr val="F5F7FA"/>
          </a:solidFill>
          <a:ln w="19050">
            <a:solidFill>
              <a:srgbClr val="00D4A0"/>
            </a:solidFill>
            <a:prstDash val="solid"/>
          </a:ln>
          <a:effectLst>
            <a:outerShdw sx="100000" sy="100000" kx="0" ky="0" algn="bl" rotWithShape="0" blurRad="127000" dist="38100" dir="2700000">
              <a:srgbClr val="000000">
                <a:alpha val="25000"/>
              </a:srgbClr>
            </a:outerShdw>
          </a:effectLst>
        </p:spPr>
      </p:sp>
      <p:sp>
        <p:nvSpPr>
          <p:cNvPr id="5" name="Text 3"/>
          <p:cNvSpPr/>
          <p:nvPr/>
        </p:nvSpPr>
        <p:spPr>
          <a:xfrm>
            <a:off x="502920" y="804672"/>
            <a:ext cx="8229600" cy="685800"/>
          </a:xfrm>
          <a:prstGeom prst="rect">
            <a:avLst/>
          </a:prstGeom>
          <a:noFill/>
          <a:ln/>
        </p:spPr>
        <p:txBody>
          <a:bodyPr wrap="square" lIns="0" tIns="0" rIns="0" bIns="0" rtlCol="0" anchor="ctr"/>
          <a:lstStyle/>
          <a:p>
            <a:pPr algn="ctr" indent="0" marL="0">
              <a:buNone/>
            </a:pPr>
            <a:r>
              <a:rPr lang="en-US" sz="1250" i="1" dirty="0">
                <a:solidFill>
                  <a:srgbClr val="0A2342"/>
                </a:solidFill>
                <a:latin typeface="Calibri" pitchFamily="34" charset="0"/>
                <a:ea typeface="Calibri" pitchFamily="34" charset="-122"/>
                <a:cs typeface="Calibri" pitchFamily="34" charset="-120"/>
              </a:rPr>
              <a:t>An AI-powered mobility intelligence platform that proactively predicts risks, protects commuters throughout their journey, and enables safer travel through trust, route intelligence, and predictive safety systems.</a:t>
            </a:r>
            <a:endParaRPr lang="en-US" sz="1250" dirty="0"/>
          </a:p>
        </p:txBody>
      </p:sp>
      <p:sp>
        <p:nvSpPr>
          <p:cNvPr id="6" name="Shape 4"/>
          <p:cNvSpPr/>
          <p:nvPr/>
        </p:nvSpPr>
        <p:spPr>
          <a:xfrm>
            <a:off x="3566160" y="1691640"/>
            <a:ext cx="2011680" cy="548640"/>
          </a:xfrm>
          <a:prstGeom prst="roundRect">
            <a:avLst>
              <a:gd name="adj" fmla="val 16667"/>
            </a:avLst>
          </a:prstGeom>
          <a:solidFill>
            <a:srgbClr val="00BFA5"/>
          </a:solidFill>
          <a:ln w="12700">
            <a:solidFill>
              <a:srgbClr val="00BFA5"/>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3566160" y="1691640"/>
            <a:ext cx="2011680" cy="548640"/>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  Commuter</a:t>
            </a:r>
            <a:endParaRPr lang="en-US" sz="1300" dirty="0"/>
          </a:p>
        </p:txBody>
      </p:sp>
      <p:sp>
        <p:nvSpPr>
          <p:cNvPr id="8" name="Shape 6"/>
          <p:cNvSpPr/>
          <p:nvPr/>
        </p:nvSpPr>
        <p:spPr>
          <a:xfrm>
            <a:off x="4572000" y="2240280"/>
            <a:ext cx="0" cy="320040"/>
          </a:xfrm>
          <a:prstGeom prst="line">
            <a:avLst/>
          </a:prstGeom>
          <a:noFill/>
          <a:ln w="25400">
            <a:solidFill>
              <a:srgbClr val="00BFA5"/>
            </a:solidFill>
            <a:prstDash val="solid"/>
          </a:ln>
        </p:spPr>
      </p:sp>
      <p:sp>
        <p:nvSpPr>
          <p:cNvPr id="9" name="Text 7"/>
          <p:cNvSpPr/>
          <p:nvPr/>
        </p:nvSpPr>
        <p:spPr>
          <a:xfrm>
            <a:off x="4407408" y="2496312"/>
            <a:ext cx="329184" cy="256032"/>
          </a:xfrm>
          <a:prstGeom prst="rect">
            <a:avLst/>
          </a:prstGeom>
          <a:noFill/>
          <a:ln/>
        </p:spPr>
        <p:txBody>
          <a:bodyPr wrap="square" lIns="0" tIns="0" rIns="0" bIns="0" rtlCol="0" anchor="ctr"/>
          <a:lstStyle/>
          <a:p>
            <a:pPr algn="ctr" indent="0" marL="0">
              <a:buNone/>
            </a:pPr>
            <a:r>
              <a:rPr lang="en-US" sz="1400" dirty="0">
                <a:solidFill>
                  <a:srgbClr val="00BFA5"/>
                </a:solidFill>
              </a:rPr>
              <a:t>▼</a:t>
            </a:r>
            <a:endParaRPr lang="en-US" sz="1400" dirty="0"/>
          </a:p>
        </p:txBody>
      </p:sp>
      <p:sp>
        <p:nvSpPr>
          <p:cNvPr id="10" name="Shape 8"/>
          <p:cNvSpPr/>
          <p:nvPr/>
        </p:nvSpPr>
        <p:spPr>
          <a:xfrm>
            <a:off x="1828800" y="2788920"/>
            <a:ext cx="5486400" cy="777240"/>
          </a:xfrm>
          <a:prstGeom prst="roundRect">
            <a:avLst>
              <a:gd name="adj" fmla="val 14118"/>
            </a:avLst>
          </a:prstGeom>
          <a:solidFill>
            <a:srgbClr val="0A2342"/>
          </a:solidFill>
          <a:ln w="25400">
            <a:solidFill>
              <a:srgbClr val="00BFA5"/>
            </a:solidFill>
            <a:prstDash val="solid"/>
          </a:ln>
          <a:effectLst>
            <a:outerShdw sx="100000" sy="100000" kx="0" ky="0" algn="bl" rotWithShape="0" blurRad="127000" dist="38100" dir="2700000">
              <a:srgbClr val="000000">
                <a:alpha val="25000"/>
              </a:srgbClr>
            </a:outerShdw>
          </a:effectLst>
        </p:spPr>
      </p:sp>
      <p:pic>
        <p:nvPicPr>
          <p:cNvPr id="11" name="Image 0" descr="preencoded.png"/>
          <p:cNvPicPr>
            <a:picLocks noChangeAspect="1"/>
          </p:cNvPicPr>
          <p:nvPr/>
        </p:nvPicPr>
        <p:blipFill>
          <a:blip r:embed="rId1"/>
          <a:stretch>
            <a:fillRect/>
          </a:stretch>
        </p:blipFill>
        <p:spPr>
          <a:xfrm>
            <a:off x="2011680" y="2880360"/>
            <a:ext cx="502920" cy="502920"/>
          </a:xfrm>
          <a:prstGeom prst="rect">
            <a:avLst/>
          </a:prstGeom>
        </p:spPr>
      </p:pic>
      <p:sp>
        <p:nvSpPr>
          <p:cNvPr id="12" name="Text 9"/>
          <p:cNvSpPr/>
          <p:nvPr/>
        </p:nvSpPr>
        <p:spPr>
          <a:xfrm>
            <a:off x="2606040" y="2788920"/>
            <a:ext cx="448056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Travix AI  —  Intelligence Core</a:t>
            </a:r>
            <a:endParaRPr lang="en-US" sz="1500" dirty="0"/>
          </a:p>
        </p:txBody>
      </p:sp>
      <p:sp>
        <p:nvSpPr>
          <p:cNvPr id="13" name="Shape 10"/>
          <p:cNvSpPr/>
          <p:nvPr/>
        </p:nvSpPr>
        <p:spPr>
          <a:xfrm>
            <a:off x="4572000" y="3566160"/>
            <a:ext cx="0" cy="320040"/>
          </a:xfrm>
          <a:prstGeom prst="line">
            <a:avLst/>
          </a:prstGeom>
          <a:noFill/>
          <a:ln w="25400">
            <a:solidFill>
              <a:srgbClr val="00BFA5"/>
            </a:solidFill>
            <a:prstDash val="solid"/>
          </a:ln>
        </p:spPr>
      </p:sp>
      <p:sp>
        <p:nvSpPr>
          <p:cNvPr id="14" name="Text 11"/>
          <p:cNvSpPr/>
          <p:nvPr/>
        </p:nvSpPr>
        <p:spPr>
          <a:xfrm>
            <a:off x="4407408" y="3822192"/>
            <a:ext cx="329184" cy="256032"/>
          </a:xfrm>
          <a:prstGeom prst="rect">
            <a:avLst/>
          </a:prstGeom>
          <a:noFill/>
          <a:ln/>
        </p:spPr>
        <p:txBody>
          <a:bodyPr wrap="square" lIns="0" tIns="0" rIns="0" bIns="0" rtlCol="0" anchor="ctr"/>
          <a:lstStyle/>
          <a:p>
            <a:pPr algn="ctr" indent="0" marL="0">
              <a:buNone/>
            </a:pPr>
            <a:r>
              <a:rPr lang="en-US" sz="1400" dirty="0">
                <a:solidFill>
                  <a:srgbClr val="00BFA5"/>
                </a:solidFill>
              </a:rPr>
              <a:t>▼</a:t>
            </a:r>
            <a:endParaRPr lang="en-US" sz="1400" dirty="0"/>
          </a:p>
        </p:txBody>
      </p:sp>
      <p:sp>
        <p:nvSpPr>
          <p:cNvPr id="15" name="Shape 12"/>
          <p:cNvSpPr/>
          <p:nvPr/>
        </p:nvSpPr>
        <p:spPr>
          <a:xfrm>
            <a:off x="2560320" y="4069080"/>
            <a:ext cx="4023360" cy="566928"/>
          </a:xfrm>
          <a:prstGeom prst="roundRect">
            <a:avLst>
              <a:gd name="adj" fmla="val 16129"/>
            </a:avLst>
          </a:prstGeom>
          <a:solidFill>
            <a:srgbClr val="00D4A0">
              <a:alpha val="80000"/>
            </a:srgbClr>
          </a:solidFill>
          <a:ln w="19050">
            <a:solidFill>
              <a:srgbClr val="00D4A0"/>
            </a:solidFill>
            <a:prstDash val="solid"/>
          </a:ln>
          <a:effectLst>
            <a:outerShdw sx="100000" sy="100000" kx="0" ky="0" algn="bl" rotWithShape="0" blurRad="127000" dist="38100" dir="2700000">
              <a:srgbClr val="000000">
                <a:alpha val="25000"/>
              </a:srgbClr>
            </a:outerShdw>
          </a:effectLst>
        </p:spPr>
      </p:sp>
      <p:sp>
        <p:nvSpPr>
          <p:cNvPr id="16" name="Text 13"/>
          <p:cNvSpPr/>
          <p:nvPr/>
        </p:nvSpPr>
        <p:spPr>
          <a:xfrm>
            <a:off x="2560320" y="4069080"/>
            <a:ext cx="4023360" cy="566928"/>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  Journey Protection Layer</a:t>
            </a:r>
            <a:endParaRPr lang="en-US" sz="1300" dirty="0"/>
          </a:p>
        </p:txBody>
      </p:sp>
      <p:sp>
        <p:nvSpPr>
          <p:cNvPr id="17" name="Shape 14"/>
          <p:cNvSpPr/>
          <p:nvPr/>
        </p:nvSpPr>
        <p:spPr>
          <a:xfrm>
            <a:off x="457200" y="4462272"/>
            <a:ext cx="2468880" cy="502920"/>
          </a:xfrm>
          <a:prstGeom prst="roundRect">
            <a:avLst>
              <a:gd name="adj" fmla="val 18182"/>
            </a:avLst>
          </a:prstGeom>
          <a:solidFill>
            <a:srgbClr val="F5F7FA"/>
          </a:solidFill>
          <a:ln w="12700">
            <a:solidFill>
              <a:srgbClr val="00BFA5"/>
            </a:solidFill>
            <a:prstDash val="solid"/>
          </a:ln>
        </p:spPr>
      </p:sp>
      <p:sp>
        <p:nvSpPr>
          <p:cNvPr id="18" name="Text 15"/>
          <p:cNvSpPr/>
          <p:nvPr/>
        </p:nvSpPr>
        <p:spPr>
          <a:xfrm>
            <a:off x="457200" y="4462272"/>
            <a:ext cx="2468880" cy="502920"/>
          </a:xfrm>
          <a:prstGeom prst="rect">
            <a:avLst/>
          </a:prstGeom>
          <a:noFill/>
          <a:ln/>
        </p:spPr>
        <p:txBody>
          <a:bodyPr wrap="square" lIns="0" tIns="0" rIns="0" bIns="0" rtlCol="0" anchor="ctr"/>
          <a:lstStyle/>
          <a:p>
            <a:pPr algn="ctr" indent="0" marL="0">
              <a:buNone/>
            </a:pPr>
            <a:r>
              <a:rPr lang="en-US" sz="1150" b="1" dirty="0">
                <a:solidFill>
                  <a:srgbClr val="00BFA5"/>
                </a:solidFill>
                <a:latin typeface="Calibri" pitchFamily="34" charset="0"/>
                <a:ea typeface="Calibri" pitchFamily="34" charset="-122"/>
                <a:cs typeface="Calibri" pitchFamily="34" charset="-120"/>
              </a:rPr>
              <a:t>AI Guardian Mode</a:t>
            </a:r>
            <a:endParaRPr lang="en-US" sz="1150" dirty="0"/>
          </a:p>
        </p:txBody>
      </p:sp>
      <p:sp>
        <p:nvSpPr>
          <p:cNvPr id="19" name="Shape 16"/>
          <p:cNvSpPr/>
          <p:nvPr/>
        </p:nvSpPr>
        <p:spPr>
          <a:xfrm>
            <a:off x="3246120" y="4462272"/>
            <a:ext cx="2468880" cy="502920"/>
          </a:xfrm>
          <a:prstGeom prst="roundRect">
            <a:avLst>
              <a:gd name="adj" fmla="val 18182"/>
            </a:avLst>
          </a:prstGeom>
          <a:solidFill>
            <a:srgbClr val="F5F7FA"/>
          </a:solidFill>
          <a:ln w="12700">
            <a:solidFill>
              <a:srgbClr val="FFB800"/>
            </a:solidFill>
            <a:prstDash val="solid"/>
          </a:ln>
        </p:spPr>
      </p:sp>
      <p:sp>
        <p:nvSpPr>
          <p:cNvPr id="20" name="Text 17"/>
          <p:cNvSpPr/>
          <p:nvPr/>
        </p:nvSpPr>
        <p:spPr>
          <a:xfrm>
            <a:off x="3246120" y="4462272"/>
            <a:ext cx="2468880" cy="502920"/>
          </a:xfrm>
          <a:prstGeom prst="rect">
            <a:avLst/>
          </a:prstGeom>
          <a:noFill/>
          <a:ln/>
        </p:spPr>
        <p:txBody>
          <a:bodyPr wrap="square" lIns="0" tIns="0" rIns="0" bIns="0" rtlCol="0" anchor="ctr"/>
          <a:lstStyle/>
          <a:p>
            <a:pPr algn="ctr" indent="0" marL="0">
              <a:buNone/>
            </a:pPr>
            <a:r>
              <a:rPr lang="en-US" sz="1150" b="1" dirty="0">
                <a:solidFill>
                  <a:srgbClr val="FFB800"/>
                </a:solidFill>
                <a:latin typeface="Calibri" pitchFamily="34" charset="0"/>
                <a:ea typeface="Calibri" pitchFamily="34" charset="-122"/>
                <a:cs typeface="Calibri" pitchFamily="34" charset="-120"/>
              </a:rPr>
              <a:t>Safe Handover Tracking</a:t>
            </a:r>
            <a:endParaRPr lang="en-US" sz="1150" dirty="0"/>
          </a:p>
        </p:txBody>
      </p:sp>
      <p:sp>
        <p:nvSpPr>
          <p:cNvPr id="21" name="Shape 18"/>
          <p:cNvSpPr/>
          <p:nvPr/>
        </p:nvSpPr>
        <p:spPr>
          <a:xfrm>
            <a:off x="6035040" y="4462272"/>
            <a:ext cx="2468880" cy="502920"/>
          </a:xfrm>
          <a:prstGeom prst="roundRect">
            <a:avLst>
              <a:gd name="adj" fmla="val 18182"/>
            </a:avLst>
          </a:prstGeom>
          <a:solidFill>
            <a:srgbClr val="F5F7FA"/>
          </a:solidFill>
          <a:ln w="12700">
            <a:solidFill>
              <a:srgbClr val="00BFA5"/>
            </a:solidFill>
            <a:prstDash val="solid"/>
          </a:ln>
        </p:spPr>
      </p:sp>
      <p:sp>
        <p:nvSpPr>
          <p:cNvPr id="22" name="Text 19"/>
          <p:cNvSpPr/>
          <p:nvPr/>
        </p:nvSpPr>
        <p:spPr>
          <a:xfrm>
            <a:off x="6035040" y="4462272"/>
            <a:ext cx="2468880" cy="502920"/>
          </a:xfrm>
          <a:prstGeom prst="rect">
            <a:avLst/>
          </a:prstGeom>
          <a:noFill/>
          <a:ln/>
        </p:spPr>
        <p:txBody>
          <a:bodyPr wrap="square" lIns="0" tIns="0" rIns="0" bIns="0" rtlCol="0" anchor="ctr"/>
          <a:lstStyle/>
          <a:p>
            <a:pPr algn="ctr" indent="0" marL="0">
              <a:buNone/>
            </a:pPr>
            <a:r>
              <a:rPr lang="en-US" sz="1150" b="1" dirty="0">
                <a:solidFill>
                  <a:srgbClr val="00BFA5"/>
                </a:solidFill>
                <a:latin typeface="Calibri" pitchFamily="34" charset="0"/>
                <a:ea typeface="Calibri" pitchFamily="34" charset="-122"/>
                <a:cs typeface="Calibri" pitchFamily="34" charset="-120"/>
              </a:rPr>
              <a:t>Trust Score Engine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5"/>
          </a:solidFill>
          <a:ln w="12700">
            <a:solidFill>
              <a:srgbClr val="00BFA5"/>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How Travix AI Works</a:t>
            </a:r>
            <a:endParaRPr lang="en-US" sz="2800" dirty="0"/>
          </a:p>
        </p:txBody>
      </p:sp>
      <p:sp>
        <p:nvSpPr>
          <p:cNvPr id="4" name="Shape 2"/>
          <p:cNvSpPr/>
          <p:nvPr/>
        </p:nvSpPr>
        <p:spPr>
          <a:xfrm>
            <a:off x="256032" y="868680"/>
            <a:ext cx="1993392" cy="4114800"/>
          </a:xfrm>
          <a:prstGeom prst="roundRect">
            <a:avLst>
              <a:gd name="adj" fmla="val 5505"/>
            </a:avLst>
          </a:prstGeom>
          <a:solidFill>
            <a:srgbClr val="F5F7FA"/>
          </a:solidFill>
          <a:ln w="19050">
            <a:solidFill>
              <a:srgbClr val="00BFA5"/>
            </a:solidFill>
            <a:prstDash val="solid"/>
          </a:ln>
          <a:effectLst>
            <a:outerShdw sx="100000" sy="100000" kx="0" ky="0" algn="bl" rotWithShape="0" blurRad="127000" dist="38100" dir="2700000">
              <a:srgbClr val="000000">
                <a:alpha val="25000"/>
              </a:srgbClr>
            </a:outerShdw>
          </a:effectLst>
        </p:spPr>
      </p:sp>
      <p:sp>
        <p:nvSpPr>
          <p:cNvPr id="5" name="Shape 3"/>
          <p:cNvSpPr/>
          <p:nvPr/>
        </p:nvSpPr>
        <p:spPr>
          <a:xfrm>
            <a:off x="932688" y="1005840"/>
            <a:ext cx="640080" cy="640080"/>
          </a:xfrm>
          <a:prstGeom prst="ellipse">
            <a:avLst/>
          </a:prstGeom>
          <a:solidFill>
            <a:srgbClr val="00BFA5">
              <a:alpha val="20000"/>
            </a:srgbClr>
          </a:solidFill>
          <a:ln w="12700">
            <a:solidFill>
              <a:srgbClr val="00BFA5"/>
            </a:solidFill>
            <a:prstDash val="solid"/>
          </a:ln>
        </p:spPr>
      </p:sp>
      <p:pic>
        <p:nvPicPr>
          <p:cNvPr id="6" name="Image 0" descr="preencoded.png"/>
          <p:cNvPicPr>
            <a:picLocks noChangeAspect="1"/>
          </p:cNvPicPr>
          <p:nvPr/>
        </p:nvPicPr>
        <p:blipFill>
          <a:blip r:embed="rId1"/>
          <a:stretch>
            <a:fillRect/>
          </a:stretch>
        </p:blipFill>
        <p:spPr>
          <a:xfrm>
            <a:off x="969264" y="1042416"/>
            <a:ext cx="566928" cy="566928"/>
          </a:xfrm>
          <a:prstGeom prst="rect">
            <a:avLst/>
          </a:prstGeom>
        </p:spPr>
      </p:pic>
      <p:sp>
        <p:nvSpPr>
          <p:cNvPr id="7" name="Text 4"/>
          <p:cNvSpPr/>
          <p:nvPr/>
        </p:nvSpPr>
        <p:spPr>
          <a:xfrm>
            <a:off x="256032" y="1755648"/>
            <a:ext cx="1993392" cy="457200"/>
          </a:xfrm>
          <a:prstGeom prst="rect">
            <a:avLst/>
          </a:prstGeom>
          <a:noFill/>
          <a:ln/>
        </p:spPr>
        <p:txBody>
          <a:bodyPr wrap="square" lIns="0" tIns="0" rIns="0" bIns="0" rtlCol="0" anchor="ctr"/>
          <a:lstStyle/>
          <a:p>
            <a:pPr algn="ctr" indent="0" marL="0">
              <a:buNone/>
            </a:pPr>
            <a:r>
              <a:rPr lang="en-US" sz="1200" b="1" dirty="0">
                <a:solidFill>
                  <a:srgbClr val="00BFA5"/>
                </a:solidFill>
                <a:latin typeface="Calibri" pitchFamily="34" charset="0"/>
                <a:ea typeface="Calibri" pitchFamily="34" charset="-122"/>
                <a:cs typeface="Calibri" pitchFamily="34" charset="-120"/>
              </a:rPr>
              <a:t>AI Guardian Mode</a:t>
            </a:r>
            <a:endParaRPr lang="en-US" sz="1200" dirty="0"/>
          </a:p>
        </p:txBody>
      </p:sp>
      <p:sp>
        <p:nvSpPr>
          <p:cNvPr id="8" name="Text 5"/>
          <p:cNvSpPr/>
          <p:nvPr/>
        </p:nvSpPr>
        <p:spPr>
          <a:xfrm>
            <a:off x="393192" y="2286000"/>
            <a:ext cx="1719072" cy="2560320"/>
          </a:xfrm>
          <a:prstGeom prst="rect">
            <a:avLst/>
          </a:prstGeom>
          <a:noFill/>
          <a:ln/>
        </p:spPr>
        <p:txBody>
          <a:bodyPr wrap="square" lIns="0" tIns="0" rIns="0" bIns="0" rtlCol="0" anchor="ctr"/>
          <a:lstStyle/>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Route deviation detection</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Unexpected stops alert</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Phone inactivity alert</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Duration anomaly check</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High-risk area warnings</a:t>
            </a:r>
            <a:endParaRPr lang="en-US" sz="1050" dirty="0"/>
          </a:p>
        </p:txBody>
      </p:sp>
      <p:sp>
        <p:nvSpPr>
          <p:cNvPr id="9" name="Shape 6"/>
          <p:cNvSpPr/>
          <p:nvPr/>
        </p:nvSpPr>
        <p:spPr>
          <a:xfrm>
            <a:off x="2432304" y="868680"/>
            <a:ext cx="1993392" cy="4114800"/>
          </a:xfrm>
          <a:prstGeom prst="roundRect">
            <a:avLst>
              <a:gd name="adj" fmla="val 5505"/>
            </a:avLst>
          </a:prstGeom>
          <a:solidFill>
            <a:srgbClr val="F5F7FA"/>
          </a:solidFill>
          <a:ln w="19050">
            <a:solidFill>
              <a:srgbClr val="00D4A0"/>
            </a:solidFill>
            <a:prstDash val="solid"/>
          </a:ln>
          <a:effectLst>
            <a:outerShdw sx="100000" sy="100000" kx="0" ky="0" algn="bl" rotWithShape="0" blurRad="127000" dist="38100" dir="2700000">
              <a:srgbClr val="000000">
                <a:alpha val="25000"/>
              </a:srgbClr>
            </a:outerShdw>
          </a:effectLst>
        </p:spPr>
      </p:sp>
      <p:sp>
        <p:nvSpPr>
          <p:cNvPr id="10" name="Shape 7"/>
          <p:cNvSpPr/>
          <p:nvPr/>
        </p:nvSpPr>
        <p:spPr>
          <a:xfrm>
            <a:off x="3108960" y="1005840"/>
            <a:ext cx="640080" cy="640080"/>
          </a:xfrm>
          <a:prstGeom prst="ellipse">
            <a:avLst/>
          </a:prstGeom>
          <a:solidFill>
            <a:srgbClr val="00D4A0">
              <a:alpha val="20000"/>
            </a:srgbClr>
          </a:solidFill>
          <a:ln w="12700">
            <a:solidFill>
              <a:srgbClr val="00D4A0"/>
            </a:solidFill>
            <a:prstDash val="solid"/>
          </a:ln>
        </p:spPr>
      </p:sp>
      <p:pic>
        <p:nvPicPr>
          <p:cNvPr id="11" name="Image 1" descr="preencoded.png"/>
          <p:cNvPicPr>
            <a:picLocks noChangeAspect="1"/>
          </p:cNvPicPr>
          <p:nvPr/>
        </p:nvPicPr>
        <p:blipFill>
          <a:blip r:embed="rId2"/>
          <a:stretch>
            <a:fillRect/>
          </a:stretch>
        </p:blipFill>
        <p:spPr>
          <a:xfrm>
            <a:off x="3145536" y="1042416"/>
            <a:ext cx="566928" cy="566928"/>
          </a:xfrm>
          <a:prstGeom prst="rect">
            <a:avLst/>
          </a:prstGeom>
        </p:spPr>
      </p:pic>
      <p:sp>
        <p:nvSpPr>
          <p:cNvPr id="12" name="Text 8"/>
          <p:cNvSpPr/>
          <p:nvPr/>
        </p:nvSpPr>
        <p:spPr>
          <a:xfrm>
            <a:off x="2432304" y="1755648"/>
            <a:ext cx="1993392" cy="457200"/>
          </a:xfrm>
          <a:prstGeom prst="rect">
            <a:avLst/>
          </a:prstGeom>
          <a:noFill/>
          <a:ln/>
        </p:spPr>
        <p:txBody>
          <a:bodyPr wrap="square" lIns="0" tIns="0" rIns="0" bIns="0" rtlCol="0" anchor="ctr"/>
          <a:lstStyle/>
          <a:p>
            <a:pPr algn="ctr" indent="0" marL="0">
              <a:buNone/>
            </a:pPr>
            <a:r>
              <a:rPr lang="en-US" sz="1200" b="1" dirty="0">
                <a:solidFill>
                  <a:srgbClr val="00D4A0"/>
                </a:solidFill>
                <a:latin typeface="Calibri" pitchFamily="34" charset="0"/>
                <a:ea typeface="Calibri" pitchFamily="34" charset="-122"/>
                <a:cs typeface="Calibri" pitchFamily="34" charset="-120"/>
              </a:rPr>
              <a:t>Safe Handover Tracking</a:t>
            </a:r>
            <a:endParaRPr lang="en-US" sz="1200" dirty="0"/>
          </a:p>
        </p:txBody>
      </p:sp>
      <p:sp>
        <p:nvSpPr>
          <p:cNvPr id="13" name="Text 9"/>
          <p:cNvSpPr/>
          <p:nvPr/>
        </p:nvSpPr>
        <p:spPr>
          <a:xfrm>
            <a:off x="2569464" y="2286000"/>
            <a:ext cx="1719072" cy="2560320"/>
          </a:xfrm>
          <a:prstGeom prst="rect">
            <a:avLst/>
          </a:prstGeom>
          <a:noFill/>
          <a:ln/>
        </p:spPr>
        <p:txBody>
          <a:bodyPr wrap="square" lIns="0" tIns="0" rIns="0" bIns="0" rtlCol="0" anchor="ctr"/>
          <a:lstStyle/>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Auto → Bus transition</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Bus → Metro transition</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Metro → Walk transition</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Walk → Home confirmation</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Multi-modal coverage</a:t>
            </a:r>
            <a:endParaRPr lang="en-US" sz="1050" dirty="0"/>
          </a:p>
        </p:txBody>
      </p:sp>
      <p:sp>
        <p:nvSpPr>
          <p:cNvPr id="14" name="Shape 10"/>
          <p:cNvSpPr/>
          <p:nvPr/>
        </p:nvSpPr>
        <p:spPr>
          <a:xfrm>
            <a:off x="4608576" y="868680"/>
            <a:ext cx="1993392" cy="4114800"/>
          </a:xfrm>
          <a:prstGeom prst="roundRect">
            <a:avLst>
              <a:gd name="adj" fmla="val 5505"/>
            </a:avLst>
          </a:prstGeom>
          <a:solidFill>
            <a:srgbClr val="F5F7FA"/>
          </a:solidFill>
          <a:ln w="19050">
            <a:solidFill>
              <a:srgbClr val="FFB800"/>
            </a:solidFill>
            <a:prstDash val="solid"/>
          </a:ln>
          <a:effectLst>
            <a:outerShdw sx="100000" sy="100000" kx="0" ky="0" algn="bl" rotWithShape="0" blurRad="127000" dist="38100" dir="2700000">
              <a:srgbClr val="000000">
                <a:alpha val="25000"/>
              </a:srgbClr>
            </a:outerShdw>
          </a:effectLst>
        </p:spPr>
      </p:sp>
      <p:sp>
        <p:nvSpPr>
          <p:cNvPr id="15" name="Shape 11"/>
          <p:cNvSpPr/>
          <p:nvPr/>
        </p:nvSpPr>
        <p:spPr>
          <a:xfrm>
            <a:off x="5285232" y="1005840"/>
            <a:ext cx="640080" cy="640080"/>
          </a:xfrm>
          <a:prstGeom prst="ellipse">
            <a:avLst/>
          </a:prstGeom>
          <a:solidFill>
            <a:srgbClr val="FFB800">
              <a:alpha val="20000"/>
            </a:srgbClr>
          </a:solidFill>
          <a:ln w="12700">
            <a:solidFill>
              <a:srgbClr val="FFB800"/>
            </a:solidFill>
            <a:prstDash val="solid"/>
          </a:ln>
        </p:spPr>
      </p:sp>
      <p:pic>
        <p:nvPicPr>
          <p:cNvPr id="16" name="Image 2" descr="preencoded.png"/>
          <p:cNvPicPr>
            <a:picLocks noChangeAspect="1"/>
          </p:cNvPicPr>
          <p:nvPr/>
        </p:nvPicPr>
        <p:blipFill>
          <a:blip r:embed="rId3"/>
          <a:stretch>
            <a:fillRect/>
          </a:stretch>
        </p:blipFill>
        <p:spPr>
          <a:xfrm>
            <a:off x="5321808" y="1042416"/>
            <a:ext cx="566928" cy="566928"/>
          </a:xfrm>
          <a:prstGeom prst="rect">
            <a:avLst/>
          </a:prstGeom>
        </p:spPr>
      </p:pic>
      <p:sp>
        <p:nvSpPr>
          <p:cNvPr id="17" name="Text 12"/>
          <p:cNvSpPr/>
          <p:nvPr/>
        </p:nvSpPr>
        <p:spPr>
          <a:xfrm>
            <a:off x="4608576" y="1755648"/>
            <a:ext cx="1993392" cy="457200"/>
          </a:xfrm>
          <a:prstGeom prst="rect">
            <a:avLst/>
          </a:prstGeom>
          <a:noFill/>
          <a:ln/>
        </p:spPr>
        <p:txBody>
          <a:bodyPr wrap="square" lIns="0" tIns="0" rIns="0" bIns="0" rtlCol="0" anchor="ctr"/>
          <a:lstStyle/>
          <a:p>
            <a:pPr algn="ctr" indent="0" marL="0">
              <a:buNone/>
            </a:pPr>
            <a:r>
              <a:rPr lang="en-US" sz="1200" b="1" dirty="0">
                <a:solidFill>
                  <a:srgbClr val="FFB800"/>
                </a:solidFill>
                <a:latin typeface="Calibri" pitchFamily="34" charset="0"/>
                <a:ea typeface="Calibri" pitchFamily="34" charset="-122"/>
                <a:cs typeface="Calibri" pitchFamily="34" charset="-120"/>
              </a:rPr>
              <a:t>AI Trust Score Engine</a:t>
            </a:r>
            <a:endParaRPr lang="en-US" sz="1200" dirty="0"/>
          </a:p>
        </p:txBody>
      </p:sp>
      <p:sp>
        <p:nvSpPr>
          <p:cNvPr id="18" name="Text 13"/>
          <p:cNvSpPr/>
          <p:nvPr/>
        </p:nvSpPr>
        <p:spPr>
          <a:xfrm>
            <a:off x="4745736" y="2286000"/>
            <a:ext cx="1719072" cy="2560320"/>
          </a:xfrm>
          <a:prstGeom prst="rect">
            <a:avLst/>
          </a:prstGeom>
          <a:noFill/>
          <a:ln/>
        </p:spPr>
        <p:txBody>
          <a:bodyPr wrap="square" lIns="0" tIns="0" rIns="0" bIns="0" rtlCol="0" anchor="ctr"/>
          <a:lstStyle/>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Passenger Trust Score</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Journey Trust Score</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Historical behavior analysis</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Real-time score update</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Community-driven signals</a:t>
            </a:r>
            <a:endParaRPr lang="en-US" sz="1050" dirty="0"/>
          </a:p>
        </p:txBody>
      </p:sp>
      <p:sp>
        <p:nvSpPr>
          <p:cNvPr id="19" name="Shape 14"/>
          <p:cNvSpPr/>
          <p:nvPr/>
        </p:nvSpPr>
        <p:spPr>
          <a:xfrm>
            <a:off x="6784848" y="868680"/>
            <a:ext cx="1993392" cy="4114800"/>
          </a:xfrm>
          <a:prstGeom prst="roundRect">
            <a:avLst>
              <a:gd name="adj" fmla="val 5505"/>
            </a:avLst>
          </a:prstGeom>
          <a:solidFill>
            <a:srgbClr val="F5F7FA"/>
          </a:solidFill>
          <a:ln w="19050">
            <a:solidFill>
              <a:srgbClr val="00BFA5"/>
            </a:solidFill>
            <a:prstDash val="solid"/>
          </a:ln>
          <a:effectLst>
            <a:outerShdw sx="100000" sy="100000" kx="0" ky="0" algn="bl" rotWithShape="0" blurRad="127000" dist="38100" dir="2700000">
              <a:srgbClr val="000000">
                <a:alpha val="25000"/>
              </a:srgbClr>
            </a:outerShdw>
          </a:effectLst>
        </p:spPr>
      </p:sp>
      <p:sp>
        <p:nvSpPr>
          <p:cNvPr id="20" name="Shape 15"/>
          <p:cNvSpPr/>
          <p:nvPr/>
        </p:nvSpPr>
        <p:spPr>
          <a:xfrm>
            <a:off x="7461504" y="1005840"/>
            <a:ext cx="640080" cy="640080"/>
          </a:xfrm>
          <a:prstGeom prst="ellipse">
            <a:avLst/>
          </a:prstGeom>
          <a:solidFill>
            <a:srgbClr val="00BFA5">
              <a:alpha val="20000"/>
            </a:srgbClr>
          </a:solidFill>
          <a:ln w="12700">
            <a:solidFill>
              <a:srgbClr val="00BFA5"/>
            </a:solidFill>
            <a:prstDash val="solid"/>
          </a:ln>
        </p:spPr>
      </p:sp>
      <p:pic>
        <p:nvPicPr>
          <p:cNvPr id="21" name="Image 3" descr="preencoded.png"/>
          <p:cNvPicPr>
            <a:picLocks noChangeAspect="1"/>
          </p:cNvPicPr>
          <p:nvPr/>
        </p:nvPicPr>
        <p:blipFill>
          <a:blip r:embed="rId4"/>
          <a:stretch>
            <a:fillRect/>
          </a:stretch>
        </p:blipFill>
        <p:spPr>
          <a:xfrm>
            <a:off x="7498080" y="1042416"/>
            <a:ext cx="566928" cy="566928"/>
          </a:xfrm>
          <a:prstGeom prst="rect">
            <a:avLst/>
          </a:prstGeom>
        </p:spPr>
      </p:pic>
      <p:sp>
        <p:nvSpPr>
          <p:cNvPr id="22" name="Text 16"/>
          <p:cNvSpPr/>
          <p:nvPr/>
        </p:nvSpPr>
        <p:spPr>
          <a:xfrm>
            <a:off x="6784848" y="1755648"/>
            <a:ext cx="1993392" cy="457200"/>
          </a:xfrm>
          <a:prstGeom prst="rect">
            <a:avLst/>
          </a:prstGeom>
          <a:noFill/>
          <a:ln/>
        </p:spPr>
        <p:txBody>
          <a:bodyPr wrap="square" lIns="0" tIns="0" rIns="0" bIns="0" rtlCol="0" anchor="ctr"/>
          <a:lstStyle/>
          <a:p>
            <a:pPr algn="ctr" indent="0" marL="0">
              <a:buNone/>
            </a:pPr>
            <a:r>
              <a:rPr lang="en-US" sz="1200" b="1" dirty="0">
                <a:solidFill>
                  <a:srgbClr val="00BFA5"/>
                </a:solidFill>
                <a:latin typeface="Calibri" pitchFamily="34" charset="0"/>
                <a:ea typeface="Calibri" pitchFamily="34" charset="-122"/>
                <a:cs typeface="Calibri" pitchFamily="34" charset="-120"/>
              </a:rPr>
              <a:t>Predictive Risk Analysis</a:t>
            </a:r>
            <a:endParaRPr lang="en-US" sz="1200" dirty="0"/>
          </a:p>
        </p:txBody>
      </p:sp>
      <p:sp>
        <p:nvSpPr>
          <p:cNvPr id="23" name="Text 17"/>
          <p:cNvSpPr/>
          <p:nvPr/>
        </p:nvSpPr>
        <p:spPr>
          <a:xfrm>
            <a:off x="6922008" y="2286000"/>
            <a:ext cx="1719072" cy="2560320"/>
          </a:xfrm>
          <a:prstGeom prst="rect">
            <a:avLst/>
          </a:prstGeom>
          <a:noFill/>
          <a:ln/>
        </p:spPr>
        <p:txBody>
          <a:bodyPr wrap="square" lIns="0" tIns="0" rIns="0" bIns="0" rtlCol="0" anchor="ctr"/>
          <a:lstStyle/>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Area Risk Score</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Route Risk Assessment</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Time-of-day risk model</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Crowd-sourced danger data</a:t>
            </a:r>
            <a:endParaRPr lang="en-US" sz="1050" dirty="0"/>
          </a:p>
          <a:p>
            <a:pPr marL="342900" indent="-342900">
              <a:buSzPct val="100000"/>
              <a:buChar char="•"/>
            </a:pPr>
            <a:r>
              <a:rPr lang="en-US" sz="1050" dirty="0">
                <a:solidFill>
                  <a:srgbClr val="555555"/>
                </a:solidFill>
                <a:latin typeface="Calibri" pitchFamily="34" charset="0"/>
                <a:ea typeface="Calibri" pitchFamily="34" charset="-122"/>
                <a:cs typeface="Calibri" pitchFamily="34" charset="-120"/>
              </a:rPr>
              <a:t>Proactive risk alerts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5"/>
          </a:solidFill>
          <a:ln w="12700">
            <a:solidFill>
              <a:srgbClr val="00BFA5"/>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What Makes Us Different</a:t>
            </a:r>
            <a:endParaRPr lang="en-US" sz="2800" dirty="0"/>
          </a:p>
        </p:txBody>
      </p:sp>
      <p:sp>
        <p:nvSpPr>
          <p:cNvPr id="4" name="Shape 2"/>
          <p:cNvSpPr/>
          <p:nvPr/>
        </p:nvSpPr>
        <p:spPr>
          <a:xfrm>
            <a:off x="274320" y="868680"/>
            <a:ext cx="2715768" cy="1828800"/>
          </a:xfrm>
          <a:prstGeom prst="roundRect">
            <a:avLst>
              <a:gd name="adj" fmla="val 6000"/>
            </a:avLst>
          </a:prstGeom>
          <a:solidFill>
            <a:srgbClr val="F5F7FA"/>
          </a:solidFill>
          <a:ln w="15240">
            <a:solidFill>
              <a:srgbClr val="00D4A0"/>
            </a:solidFill>
            <a:prstDash val="solid"/>
          </a:ln>
          <a:effectLst>
            <a:outerShdw sx="100000" sy="100000" kx="0" ky="0" algn="bl" rotWithShape="0" blurRad="127000" dist="38100" dir="2700000">
              <a:srgbClr val="000000">
                <a:alpha val="25000"/>
              </a:srgbClr>
            </a:outerShdw>
          </a:effectLst>
        </p:spPr>
      </p:sp>
      <p:pic>
        <p:nvPicPr>
          <p:cNvPr id="5" name="Image 0" descr="preencoded.png"/>
          <p:cNvPicPr>
            <a:picLocks noChangeAspect="1"/>
          </p:cNvPicPr>
          <p:nvPr/>
        </p:nvPicPr>
        <p:blipFill>
          <a:blip r:embed="rId1"/>
          <a:stretch>
            <a:fillRect/>
          </a:stretch>
        </p:blipFill>
        <p:spPr>
          <a:xfrm>
            <a:off x="438912" y="1051560"/>
            <a:ext cx="502920" cy="502920"/>
          </a:xfrm>
          <a:prstGeom prst="rect">
            <a:avLst/>
          </a:prstGeom>
        </p:spPr>
      </p:pic>
      <p:sp>
        <p:nvSpPr>
          <p:cNvPr id="6" name="Text 3"/>
          <p:cNvSpPr/>
          <p:nvPr/>
        </p:nvSpPr>
        <p:spPr>
          <a:xfrm>
            <a:off x="1033272" y="1033272"/>
            <a:ext cx="1828800" cy="502920"/>
          </a:xfrm>
          <a:prstGeom prst="rect">
            <a:avLst/>
          </a:prstGeom>
          <a:noFill/>
          <a:ln/>
        </p:spPr>
        <p:txBody>
          <a:bodyPr wrap="square" lIns="0" tIns="0" rIns="0" bIns="0" rtlCol="0" anchor="ctr"/>
          <a:lstStyle/>
          <a:p>
            <a:pPr indent="0" marL="0">
              <a:buNone/>
            </a:pPr>
            <a:r>
              <a:rPr lang="en-US" sz="1250" b="1" dirty="0">
                <a:solidFill>
                  <a:srgbClr val="00D4A0"/>
                </a:solidFill>
                <a:latin typeface="Calibri" pitchFamily="34" charset="0"/>
                <a:ea typeface="Calibri" pitchFamily="34" charset="-122"/>
                <a:cs typeface="Calibri" pitchFamily="34" charset="-120"/>
              </a:rPr>
              <a:t>Safe Route Intelligence</a:t>
            </a:r>
            <a:endParaRPr lang="en-US" sz="1250" dirty="0"/>
          </a:p>
        </p:txBody>
      </p:sp>
      <p:sp>
        <p:nvSpPr>
          <p:cNvPr id="7" name="Text 4"/>
          <p:cNvSpPr/>
          <p:nvPr/>
        </p:nvSpPr>
        <p:spPr>
          <a:xfrm>
            <a:off x="438912" y="167335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Safest route, not fastest route. AI weighs crime data, lighting, crowd density.</a:t>
            </a:r>
            <a:endParaRPr lang="en-US" sz="1050" dirty="0"/>
          </a:p>
        </p:txBody>
      </p:sp>
      <p:sp>
        <p:nvSpPr>
          <p:cNvPr id="8" name="Shape 5"/>
          <p:cNvSpPr/>
          <p:nvPr/>
        </p:nvSpPr>
        <p:spPr>
          <a:xfrm>
            <a:off x="3172968" y="868680"/>
            <a:ext cx="2715768" cy="1828800"/>
          </a:xfrm>
          <a:prstGeom prst="roundRect">
            <a:avLst>
              <a:gd name="adj" fmla="val 6000"/>
            </a:avLst>
          </a:prstGeom>
          <a:solidFill>
            <a:srgbClr val="F5F7FA"/>
          </a:solidFill>
          <a:ln w="15240">
            <a:solidFill>
              <a:srgbClr val="FF4D6A"/>
            </a:solidFill>
            <a:prstDash val="solid"/>
          </a:ln>
          <a:effectLst>
            <a:outerShdw sx="100000" sy="100000" kx="0" ky="0" algn="bl" rotWithShape="0" blurRad="127000" dist="38100" dir="2700000">
              <a:srgbClr val="000000">
                <a:alpha val="25000"/>
              </a:srgbClr>
            </a:outerShdw>
          </a:effectLst>
        </p:spPr>
      </p:sp>
      <p:pic>
        <p:nvPicPr>
          <p:cNvPr id="9" name="Image 1" descr="preencoded.png"/>
          <p:cNvPicPr>
            <a:picLocks noChangeAspect="1"/>
          </p:cNvPicPr>
          <p:nvPr/>
        </p:nvPicPr>
        <p:blipFill>
          <a:blip r:embed="rId2"/>
          <a:stretch>
            <a:fillRect/>
          </a:stretch>
        </p:blipFill>
        <p:spPr>
          <a:xfrm>
            <a:off x="3337560" y="1051560"/>
            <a:ext cx="502920" cy="502920"/>
          </a:xfrm>
          <a:prstGeom prst="rect">
            <a:avLst/>
          </a:prstGeom>
        </p:spPr>
      </p:pic>
      <p:sp>
        <p:nvSpPr>
          <p:cNvPr id="10" name="Text 6"/>
          <p:cNvSpPr/>
          <p:nvPr/>
        </p:nvSpPr>
        <p:spPr>
          <a:xfrm>
            <a:off x="3931920" y="1033272"/>
            <a:ext cx="1828800" cy="502920"/>
          </a:xfrm>
          <a:prstGeom prst="rect">
            <a:avLst/>
          </a:prstGeom>
          <a:noFill/>
          <a:ln/>
        </p:spPr>
        <p:txBody>
          <a:bodyPr wrap="square" lIns="0" tIns="0" rIns="0" bIns="0" rtlCol="0" anchor="ctr"/>
          <a:lstStyle/>
          <a:p>
            <a:pPr indent="0" marL="0">
              <a:buNone/>
            </a:pPr>
            <a:r>
              <a:rPr lang="en-US" sz="1250" b="1" dirty="0">
                <a:solidFill>
                  <a:srgbClr val="FF4D6A"/>
                </a:solidFill>
                <a:latin typeface="Calibri" pitchFamily="34" charset="0"/>
                <a:ea typeface="Calibri" pitchFamily="34" charset="-122"/>
                <a:cs typeface="Calibri" pitchFamily="34" charset="-120"/>
              </a:rPr>
              <a:t>Dynamic Safety Heatmap</a:t>
            </a:r>
            <a:endParaRPr lang="en-US" sz="1250" dirty="0"/>
          </a:p>
        </p:txBody>
      </p:sp>
      <p:sp>
        <p:nvSpPr>
          <p:cNvPr id="11" name="Text 7"/>
          <p:cNvSpPr/>
          <p:nvPr/>
        </p:nvSpPr>
        <p:spPr>
          <a:xfrm>
            <a:off x="3337560" y="167335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Community-reported danger zones update in real-time on an interactive map.</a:t>
            </a:r>
            <a:endParaRPr lang="en-US" sz="1050" dirty="0"/>
          </a:p>
        </p:txBody>
      </p:sp>
      <p:sp>
        <p:nvSpPr>
          <p:cNvPr id="12" name="Shape 8"/>
          <p:cNvSpPr/>
          <p:nvPr/>
        </p:nvSpPr>
        <p:spPr>
          <a:xfrm>
            <a:off x="6071616" y="868680"/>
            <a:ext cx="2715768" cy="1828800"/>
          </a:xfrm>
          <a:prstGeom prst="roundRect">
            <a:avLst>
              <a:gd name="adj" fmla="val 6000"/>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13" name="Image 2" descr="preencoded.png"/>
          <p:cNvPicPr>
            <a:picLocks noChangeAspect="1"/>
          </p:cNvPicPr>
          <p:nvPr/>
        </p:nvPicPr>
        <p:blipFill>
          <a:blip r:embed="rId3"/>
          <a:stretch>
            <a:fillRect/>
          </a:stretch>
        </p:blipFill>
        <p:spPr>
          <a:xfrm>
            <a:off x="6236208" y="1051560"/>
            <a:ext cx="502920" cy="502920"/>
          </a:xfrm>
          <a:prstGeom prst="rect">
            <a:avLst/>
          </a:prstGeom>
        </p:spPr>
      </p:pic>
      <p:sp>
        <p:nvSpPr>
          <p:cNvPr id="14" name="Text 9"/>
          <p:cNvSpPr/>
          <p:nvPr/>
        </p:nvSpPr>
        <p:spPr>
          <a:xfrm>
            <a:off x="6830568" y="1033272"/>
            <a:ext cx="1828800" cy="502920"/>
          </a:xfrm>
          <a:prstGeom prst="rect">
            <a:avLst/>
          </a:prstGeom>
          <a:noFill/>
          <a:ln/>
        </p:spPr>
        <p:txBody>
          <a:bodyPr wrap="square" lIns="0" tIns="0" rIns="0" bIns="0" rtlCol="0" anchor="ctr"/>
          <a:lstStyle/>
          <a:p>
            <a:pPr indent="0" marL="0">
              <a:buNone/>
            </a:pPr>
            <a:r>
              <a:rPr lang="en-US" sz="1250" b="1" dirty="0">
                <a:solidFill>
                  <a:srgbClr val="00BFA5"/>
                </a:solidFill>
                <a:latin typeface="Calibri" pitchFamily="34" charset="0"/>
                <a:ea typeface="Calibri" pitchFamily="34" charset="-122"/>
                <a:cs typeface="Calibri" pitchFamily="34" charset="-120"/>
              </a:rPr>
              <a:t>Voice-Free SOS</a:t>
            </a:r>
            <a:endParaRPr lang="en-US" sz="1250" dirty="0"/>
          </a:p>
        </p:txBody>
      </p:sp>
      <p:sp>
        <p:nvSpPr>
          <p:cNvPr id="15" name="Text 10"/>
          <p:cNvSpPr/>
          <p:nvPr/>
        </p:nvSpPr>
        <p:spPr>
          <a:xfrm>
            <a:off x="6236208" y="167335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Shake phone, volume sequence, or hidden gesture — no need to speak or unlock.</a:t>
            </a:r>
            <a:endParaRPr lang="en-US" sz="1050" dirty="0"/>
          </a:p>
        </p:txBody>
      </p:sp>
      <p:sp>
        <p:nvSpPr>
          <p:cNvPr id="16" name="Shape 11"/>
          <p:cNvSpPr/>
          <p:nvPr/>
        </p:nvSpPr>
        <p:spPr>
          <a:xfrm>
            <a:off x="274320" y="2880360"/>
            <a:ext cx="2715768" cy="1828800"/>
          </a:xfrm>
          <a:prstGeom prst="roundRect">
            <a:avLst>
              <a:gd name="adj" fmla="val 6000"/>
            </a:avLst>
          </a:prstGeom>
          <a:solidFill>
            <a:srgbClr val="F5F7FA"/>
          </a:solidFill>
          <a:ln w="15240">
            <a:solidFill>
              <a:srgbClr val="FFB800"/>
            </a:solidFill>
            <a:prstDash val="solid"/>
          </a:ln>
          <a:effectLst>
            <a:outerShdw sx="100000" sy="100000" kx="0" ky="0" algn="bl" rotWithShape="0" blurRad="127000" dist="38100" dir="2700000">
              <a:srgbClr val="000000">
                <a:alpha val="25000"/>
              </a:srgbClr>
            </a:outerShdw>
          </a:effectLst>
        </p:spPr>
      </p:sp>
      <p:pic>
        <p:nvPicPr>
          <p:cNvPr id="17" name="Image 3" descr="preencoded.png"/>
          <p:cNvPicPr>
            <a:picLocks noChangeAspect="1"/>
          </p:cNvPicPr>
          <p:nvPr/>
        </p:nvPicPr>
        <p:blipFill>
          <a:blip r:embed="rId4"/>
          <a:stretch>
            <a:fillRect/>
          </a:stretch>
        </p:blipFill>
        <p:spPr>
          <a:xfrm>
            <a:off x="438912" y="3063240"/>
            <a:ext cx="502920" cy="502920"/>
          </a:xfrm>
          <a:prstGeom prst="rect">
            <a:avLst/>
          </a:prstGeom>
        </p:spPr>
      </p:pic>
      <p:sp>
        <p:nvSpPr>
          <p:cNvPr id="18" name="Text 12"/>
          <p:cNvSpPr/>
          <p:nvPr/>
        </p:nvSpPr>
        <p:spPr>
          <a:xfrm>
            <a:off x="1033272" y="3044952"/>
            <a:ext cx="1828800" cy="502920"/>
          </a:xfrm>
          <a:prstGeom prst="rect">
            <a:avLst/>
          </a:prstGeom>
          <a:noFill/>
          <a:ln/>
        </p:spPr>
        <p:txBody>
          <a:bodyPr wrap="square" lIns="0" tIns="0" rIns="0" bIns="0" rtlCol="0" anchor="ctr"/>
          <a:lstStyle/>
          <a:p>
            <a:pPr indent="0" marL="0">
              <a:buNone/>
            </a:pPr>
            <a:r>
              <a:rPr lang="en-US" sz="1250" b="1" dirty="0">
                <a:solidFill>
                  <a:srgbClr val="FFB800"/>
                </a:solidFill>
                <a:latin typeface="Calibri" pitchFamily="34" charset="0"/>
                <a:ea typeface="Calibri" pitchFamily="34" charset="-122"/>
                <a:cs typeface="Calibri" pitchFamily="34" charset="-120"/>
              </a:rPr>
              <a:t>Travel Together Mode</a:t>
            </a:r>
            <a:endParaRPr lang="en-US" sz="1250" dirty="0"/>
          </a:p>
        </p:txBody>
      </p:sp>
      <p:sp>
        <p:nvSpPr>
          <p:cNvPr id="19" name="Text 13"/>
          <p:cNvSpPr/>
          <p:nvPr/>
        </p:nvSpPr>
        <p:spPr>
          <a:xfrm>
            <a:off x="438912" y="368503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Family &amp; trusted contacts monitor your active journey live on their phones.</a:t>
            </a:r>
            <a:endParaRPr lang="en-US" sz="1050" dirty="0"/>
          </a:p>
        </p:txBody>
      </p:sp>
      <p:sp>
        <p:nvSpPr>
          <p:cNvPr id="20" name="Shape 14"/>
          <p:cNvSpPr/>
          <p:nvPr/>
        </p:nvSpPr>
        <p:spPr>
          <a:xfrm>
            <a:off x="3172968" y="2880360"/>
            <a:ext cx="2715768" cy="1828800"/>
          </a:xfrm>
          <a:prstGeom prst="roundRect">
            <a:avLst>
              <a:gd name="adj" fmla="val 6000"/>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21" name="Image 4" descr="preencoded.png"/>
          <p:cNvPicPr>
            <a:picLocks noChangeAspect="1"/>
          </p:cNvPicPr>
          <p:nvPr/>
        </p:nvPicPr>
        <p:blipFill>
          <a:blip r:embed="rId5"/>
          <a:stretch>
            <a:fillRect/>
          </a:stretch>
        </p:blipFill>
        <p:spPr>
          <a:xfrm>
            <a:off x="3337560" y="3063240"/>
            <a:ext cx="502920" cy="502920"/>
          </a:xfrm>
          <a:prstGeom prst="rect">
            <a:avLst/>
          </a:prstGeom>
        </p:spPr>
      </p:pic>
      <p:sp>
        <p:nvSpPr>
          <p:cNvPr id="22" name="Text 15"/>
          <p:cNvSpPr/>
          <p:nvPr/>
        </p:nvSpPr>
        <p:spPr>
          <a:xfrm>
            <a:off x="3931920" y="3044952"/>
            <a:ext cx="1828800" cy="502920"/>
          </a:xfrm>
          <a:prstGeom prst="rect">
            <a:avLst/>
          </a:prstGeom>
          <a:noFill/>
          <a:ln/>
        </p:spPr>
        <p:txBody>
          <a:bodyPr wrap="square" lIns="0" tIns="0" rIns="0" bIns="0" rtlCol="0" anchor="ctr"/>
          <a:lstStyle/>
          <a:p>
            <a:pPr indent="0" marL="0">
              <a:buNone/>
            </a:pPr>
            <a:r>
              <a:rPr lang="en-US" sz="1250" b="1" dirty="0">
                <a:solidFill>
                  <a:srgbClr val="00BFA5"/>
                </a:solidFill>
                <a:latin typeface="Calibri" pitchFamily="34" charset="0"/>
                <a:ea typeface="Calibri" pitchFamily="34" charset="-122"/>
                <a:cs typeface="Calibri" pitchFamily="34" charset="-120"/>
              </a:rPr>
              <a:t>Commute Safety Score</a:t>
            </a:r>
            <a:endParaRPr lang="en-US" sz="1250" dirty="0"/>
          </a:p>
        </p:txBody>
      </p:sp>
      <p:sp>
        <p:nvSpPr>
          <p:cNvPr id="23" name="Text 16"/>
          <p:cNvSpPr/>
          <p:nvPr/>
        </p:nvSpPr>
        <p:spPr>
          <a:xfrm>
            <a:off x="3337560" y="368503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Every journey rated 0–100. Score: 92/100 shown in real-time dashboard.</a:t>
            </a:r>
            <a:endParaRPr lang="en-US" sz="1050" dirty="0"/>
          </a:p>
        </p:txBody>
      </p:sp>
      <p:sp>
        <p:nvSpPr>
          <p:cNvPr id="24" name="Shape 17"/>
          <p:cNvSpPr/>
          <p:nvPr/>
        </p:nvSpPr>
        <p:spPr>
          <a:xfrm>
            <a:off x="6071616" y="2880360"/>
            <a:ext cx="2715768" cy="1828800"/>
          </a:xfrm>
          <a:prstGeom prst="roundRect">
            <a:avLst>
              <a:gd name="adj" fmla="val 6000"/>
            </a:avLst>
          </a:prstGeom>
          <a:solidFill>
            <a:srgbClr val="F5F7FA"/>
          </a:solidFill>
          <a:ln w="15240">
            <a:solidFill>
              <a:srgbClr val="555555"/>
            </a:solidFill>
            <a:prstDash val="solid"/>
          </a:ln>
          <a:effectLst>
            <a:outerShdw sx="100000" sy="100000" kx="0" ky="0" algn="bl" rotWithShape="0" blurRad="127000" dist="38100" dir="2700000">
              <a:srgbClr val="000000">
                <a:alpha val="25000"/>
              </a:srgbClr>
            </a:outerShdw>
          </a:effectLst>
        </p:spPr>
      </p:sp>
      <p:pic>
        <p:nvPicPr>
          <p:cNvPr id="25" name="Image 5" descr="preencoded.png"/>
          <p:cNvPicPr>
            <a:picLocks noChangeAspect="1"/>
          </p:cNvPicPr>
          <p:nvPr/>
        </p:nvPicPr>
        <p:blipFill>
          <a:blip r:embed="rId6"/>
          <a:stretch>
            <a:fillRect/>
          </a:stretch>
        </p:blipFill>
        <p:spPr>
          <a:xfrm>
            <a:off x="6236208" y="3063240"/>
            <a:ext cx="502920" cy="502920"/>
          </a:xfrm>
          <a:prstGeom prst="rect">
            <a:avLst/>
          </a:prstGeom>
        </p:spPr>
      </p:pic>
      <p:sp>
        <p:nvSpPr>
          <p:cNvPr id="26" name="Text 18"/>
          <p:cNvSpPr/>
          <p:nvPr/>
        </p:nvSpPr>
        <p:spPr>
          <a:xfrm>
            <a:off x="6830568" y="3044952"/>
            <a:ext cx="1828800" cy="502920"/>
          </a:xfrm>
          <a:prstGeom prst="rect">
            <a:avLst/>
          </a:prstGeom>
          <a:noFill/>
          <a:ln/>
        </p:spPr>
        <p:txBody>
          <a:bodyPr wrap="square" lIns="0" tIns="0" rIns="0" bIns="0" rtlCol="0" anchor="ctr"/>
          <a:lstStyle/>
          <a:p>
            <a:pPr indent="0" marL="0">
              <a:buNone/>
            </a:pPr>
            <a:r>
              <a:rPr lang="en-US" sz="1250" b="1" dirty="0">
                <a:solidFill>
                  <a:srgbClr val="555555"/>
                </a:solidFill>
                <a:latin typeface="Calibri" pitchFamily="34" charset="0"/>
                <a:ea typeface="Calibri" pitchFamily="34" charset="-122"/>
                <a:cs typeface="Calibri" pitchFamily="34" charset="-120"/>
              </a:rPr>
              <a:t>Route Deviation Detection</a:t>
            </a:r>
            <a:endParaRPr lang="en-US" sz="1250" dirty="0"/>
          </a:p>
        </p:txBody>
      </p:sp>
      <p:sp>
        <p:nvSpPr>
          <p:cNvPr id="27" name="Text 19"/>
          <p:cNvSpPr/>
          <p:nvPr/>
        </p:nvSpPr>
        <p:spPr>
          <a:xfrm>
            <a:off x="6236208" y="3685032"/>
            <a:ext cx="2377440" cy="91440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Instant alert &amp; auto-verification when driver deviates from expected route.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A0"/>
          </a:solidFill>
          <a:ln w="12700">
            <a:solidFill>
              <a:srgbClr val="00D4A0"/>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Working MVP Prototype</a:t>
            </a:r>
            <a:endParaRPr lang="en-US" sz="2800" dirty="0"/>
          </a:p>
        </p:txBody>
      </p:sp>
      <p:sp>
        <p:nvSpPr>
          <p:cNvPr id="4" name="Shape 2"/>
          <p:cNvSpPr/>
          <p:nvPr/>
        </p:nvSpPr>
        <p:spPr>
          <a:xfrm>
            <a:off x="6583680" y="164592"/>
            <a:ext cx="2194560" cy="457200"/>
          </a:xfrm>
          <a:prstGeom prst="roundRect">
            <a:avLst>
              <a:gd name="adj" fmla="val 20000"/>
            </a:avLst>
          </a:prstGeom>
          <a:solidFill>
            <a:srgbClr val="00D4A0">
              <a:alpha val="85000"/>
            </a:srgbClr>
          </a:solidFill>
          <a:ln w="19050">
            <a:solidFill>
              <a:srgbClr val="00D4A0"/>
            </a:solidFill>
            <a:prstDash val="solid"/>
          </a:ln>
        </p:spPr>
      </p:sp>
      <p:sp>
        <p:nvSpPr>
          <p:cNvPr id="5" name="Text 3"/>
          <p:cNvSpPr/>
          <p:nvPr/>
        </p:nvSpPr>
        <p:spPr>
          <a:xfrm>
            <a:off x="6583680" y="164592"/>
            <a:ext cx="2194560" cy="457200"/>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 Buildable in 48 Hours</a:t>
            </a:r>
            <a:endParaRPr lang="en-US" sz="1100" dirty="0"/>
          </a:p>
        </p:txBody>
      </p:sp>
      <p:sp>
        <p:nvSpPr>
          <p:cNvPr id="6" name="Shape 4"/>
          <p:cNvSpPr/>
          <p:nvPr/>
        </p:nvSpPr>
        <p:spPr>
          <a:xfrm>
            <a:off x="320040" y="868680"/>
            <a:ext cx="4023360" cy="4160520"/>
          </a:xfrm>
          <a:prstGeom prst="roundRect">
            <a:avLst>
              <a:gd name="adj" fmla="val 2727"/>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7" name="Image 0" descr="preencoded.png"/>
          <p:cNvPicPr>
            <a:picLocks noChangeAspect="1"/>
          </p:cNvPicPr>
          <p:nvPr/>
        </p:nvPicPr>
        <p:blipFill>
          <a:blip r:embed="rId1"/>
          <a:stretch>
            <a:fillRect/>
          </a:stretch>
        </p:blipFill>
        <p:spPr>
          <a:xfrm>
            <a:off x="502920" y="960120"/>
            <a:ext cx="457200" cy="457200"/>
          </a:xfrm>
          <a:prstGeom prst="rect">
            <a:avLst/>
          </a:prstGeom>
        </p:spPr>
      </p:pic>
      <p:sp>
        <p:nvSpPr>
          <p:cNvPr id="8" name="Text 5"/>
          <p:cNvSpPr/>
          <p:nvPr/>
        </p:nvSpPr>
        <p:spPr>
          <a:xfrm>
            <a:off x="1051560" y="960120"/>
            <a:ext cx="3108960" cy="457200"/>
          </a:xfrm>
          <a:prstGeom prst="rect">
            <a:avLst/>
          </a:prstGeom>
          <a:noFill/>
          <a:ln/>
        </p:spPr>
        <p:txBody>
          <a:bodyPr wrap="square" lIns="0" tIns="0" rIns="0" bIns="0" rtlCol="0" anchor="ctr"/>
          <a:lstStyle/>
          <a:p>
            <a:pPr indent="0" marL="0">
              <a:buNone/>
            </a:pPr>
            <a:r>
              <a:rPr lang="en-US" sz="1400" b="1" dirty="0">
                <a:solidFill>
                  <a:srgbClr val="00BFA5"/>
                </a:solidFill>
                <a:latin typeface="Calibri" pitchFamily="34" charset="0"/>
                <a:ea typeface="Calibri" pitchFamily="34" charset="-122"/>
                <a:cs typeface="Calibri" pitchFamily="34" charset="-120"/>
              </a:rPr>
              <a:t>Passenger Features</a:t>
            </a:r>
            <a:endParaRPr lang="en-US" sz="1400" dirty="0"/>
          </a:p>
        </p:txBody>
      </p:sp>
      <p:sp>
        <p:nvSpPr>
          <p:cNvPr id="9" name="Text 6"/>
          <p:cNvSpPr/>
          <p:nvPr/>
        </p:nvSpPr>
        <p:spPr>
          <a:xfrm>
            <a:off x="502920" y="1508760"/>
            <a:ext cx="3657600" cy="3383280"/>
          </a:xfrm>
          <a:prstGeom prst="rect">
            <a:avLst/>
          </a:prstGeom>
          <a:noFill/>
          <a:ln/>
        </p:spPr>
        <p:txBody>
          <a:bodyPr wrap="square" lIns="0" tIns="0" rIns="0" bIns="0" rtlCol="0" anchor="ctr"/>
          <a:lstStyle/>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AI Guardian Mode (active monitoring)</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Safe Handover Tracking</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Trust Score Dashboard</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Ride Risk Score Display</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Safety Heatmap View</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Safe Route Recommendation</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Route Deviation Alert</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Voice-Free SOS (shake/gesture)</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Travel Together Mode</a:t>
            </a:r>
            <a:endParaRPr lang="en-US" sz="1100" dirty="0"/>
          </a:p>
        </p:txBody>
      </p:sp>
      <p:sp>
        <p:nvSpPr>
          <p:cNvPr id="10" name="Shape 7"/>
          <p:cNvSpPr/>
          <p:nvPr/>
        </p:nvSpPr>
        <p:spPr>
          <a:xfrm>
            <a:off x="4572000" y="868680"/>
            <a:ext cx="4206240" cy="4160520"/>
          </a:xfrm>
          <a:prstGeom prst="roundRect">
            <a:avLst>
              <a:gd name="adj" fmla="val 2637"/>
            </a:avLst>
          </a:prstGeom>
          <a:solidFill>
            <a:srgbClr val="F5F7FA"/>
          </a:solidFill>
          <a:ln w="15240">
            <a:solidFill>
              <a:srgbClr val="FFB800"/>
            </a:solidFill>
            <a:prstDash val="solid"/>
          </a:ln>
          <a:effectLst>
            <a:outerShdw sx="100000" sy="100000" kx="0" ky="0" algn="bl" rotWithShape="0" blurRad="127000" dist="38100" dir="2700000">
              <a:srgbClr val="000000">
                <a:alpha val="25000"/>
              </a:srgbClr>
            </a:outerShdw>
          </a:effectLst>
        </p:spPr>
      </p:sp>
      <p:pic>
        <p:nvPicPr>
          <p:cNvPr id="11" name="Image 1" descr="preencoded.png"/>
          <p:cNvPicPr>
            <a:picLocks noChangeAspect="1"/>
          </p:cNvPicPr>
          <p:nvPr/>
        </p:nvPicPr>
        <p:blipFill>
          <a:blip r:embed="rId2"/>
          <a:stretch>
            <a:fillRect/>
          </a:stretch>
        </p:blipFill>
        <p:spPr>
          <a:xfrm>
            <a:off x="4754880" y="960120"/>
            <a:ext cx="457200" cy="457200"/>
          </a:xfrm>
          <a:prstGeom prst="rect">
            <a:avLst/>
          </a:prstGeom>
        </p:spPr>
      </p:pic>
      <p:sp>
        <p:nvSpPr>
          <p:cNvPr id="12" name="Text 8"/>
          <p:cNvSpPr/>
          <p:nvPr/>
        </p:nvSpPr>
        <p:spPr>
          <a:xfrm>
            <a:off x="5303520" y="960120"/>
            <a:ext cx="3200400" cy="457200"/>
          </a:xfrm>
          <a:prstGeom prst="rect">
            <a:avLst/>
          </a:prstGeom>
          <a:noFill/>
          <a:ln/>
        </p:spPr>
        <p:txBody>
          <a:bodyPr wrap="square" lIns="0" tIns="0" rIns="0" bIns="0" rtlCol="0" anchor="ctr"/>
          <a:lstStyle/>
          <a:p>
            <a:pPr indent="0" marL="0">
              <a:buNone/>
            </a:pPr>
            <a:r>
              <a:rPr lang="en-US" sz="1400" b="1" dirty="0">
                <a:solidFill>
                  <a:srgbClr val="FFB800"/>
                </a:solidFill>
                <a:latin typeface="Calibri" pitchFamily="34" charset="0"/>
                <a:ea typeface="Calibri" pitchFamily="34" charset="-122"/>
                <a:cs typeface="Calibri" pitchFamily="34" charset="-120"/>
              </a:rPr>
              <a:t>Technology Stack</a:t>
            </a:r>
            <a:endParaRPr lang="en-US" sz="1400" dirty="0"/>
          </a:p>
        </p:txBody>
      </p:sp>
      <p:sp>
        <p:nvSpPr>
          <p:cNvPr id="13" name="Shape 9"/>
          <p:cNvSpPr/>
          <p:nvPr/>
        </p:nvSpPr>
        <p:spPr>
          <a:xfrm>
            <a:off x="4754880" y="1536192"/>
            <a:ext cx="3822192" cy="411480"/>
          </a:xfrm>
          <a:prstGeom prst="roundRect">
            <a:avLst>
              <a:gd name="adj" fmla="val 17778"/>
            </a:avLst>
          </a:prstGeom>
          <a:solidFill>
            <a:srgbClr val="0F1E35"/>
          </a:solidFill>
          <a:ln w="12700">
            <a:solidFill>
              <a:srgbClr val="00BFA5"/>
            </a:solidFill>
            <a:prstDash val="solid"/>
          </a:ln>
        </p:spPr>
      </p:sp>
      <p:sp>
        <p:nvSpPr>
          <p:cNvPr id="14" name="Text 10"/>
          <p:cNvSpPr/>
          <p:nvPr/>
        </p:nvSpPr>
        <p:spPr>
          <a:xfrm>
            <a:off x="4846320" y="1536192"/>
            <a:ext cx="1188720" cy="411480"/>
          </a:xfrm>
          <a:prstGeom prst="rect">
            <a:avLst/>
          </a:prstGeom>
          <a:noFill/>
          <a:ln/>
        </p:spPr>
        <p:txBody>
          <a:bodyPr wrap="square" lIns="0" tIns="0" rIns="0" bIns="0" rtlCol="0" anchor="ctr"/>
          <a:lstStyle/>
          <a:p>
            <a:pPr indent="0" marL="0">
              <a:buNone/>
            </a:pPr>
            <a:r>
              <a:rPr lang="en-US" sz="1100" b="1" dirty="0">
                <a:solidFill>
                  <a:srgbClr val="00BFA5"/>
                </a:solidFill>
                <a:latin typeface="Calibri" pitchFamily="34" charset="0"/>
                <a:ea typeface="Calibri" pitchFamily="34" charset="-122"/>
                <a:cs typeface="Calibri" pitchFamily="34" charset="-120"/>
              </a:rPr>
              <a:t>Frontend</a:t>
            </a:r>
            <a:endParaRPr lang="en-US" sz="1100" dirty="0"/>
          </a:p>
        </p:txBody>
      </p:sp>
      <p:sp>
        <p:nvSpPr>
          <p:cNvPr id="15" name="Text 11"/>
          <p:cNvSpPr/>
          <p:nvPr/>
        </p:nvSpPr>
        <p:spPr>
          <a:xfrm>
            <a:off x="6080760" y="153619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React.js + Tailwind CSS</a:t>
            </a:r>
            <a:endParaRPr lang="en-US" sz="1100" dirty="0"/>
          </a:p>
        </p:txBody>
      </p:sp>
      <p:sp>
        <p:nvSpPr>
          <p:cNvPr id="16" name="Shape 12"/>
          <p:cNvSpPr/>
          <p:nvPr/>
        </p:nvSpPr>
        <p:spPr>
          <a:xfrm>
            <a:off x="4754880" y="2039112"/>
            <a:ext cx="3822192" cy="411480"/>
          </a:xfrm>
          <a:prstGeom prst="roundRect">
            <a:avLst>
              <a:gd name="adj" fmla="val 17778"/>
            </a:avLst>
          </a:prstGeom>
          <a:solidFill>
            <a:srgbClr val="0F1E35"/>
          </a:solidFill>
          <a:ln w="12700">
            <a:solidFill>
              <a:srgbClr val="00D4A0"/>
            </a:solidFill>
            <a:prstDash val="solid"/>
          </a:ln>
        </p:spPr>
      </p:sp>
      <p:sp>
        <p:nvSpPr>
          <p:cNvPr id="17" name="Text 13"/>
          <p:cNvSpPr/>
          <p:nvPr/>
        </p:nvSpPr>
        <p:spPr>
          <a:xfrm>
            <a:off x="4846320" y="2039112"/>
            <a:ext cx="1188720" cy="411480"/>
          </a:xfrm>
          <a:prstGeom prst="rect">
            <a:avLst/>
          </a:prstGeom>
          <a:noFill/>
          <a:ln/>
        </p:spPr>
        <p:txBody>
          <a:bodyPr wrap="square" lIns="0" tIns="0" rIns="0" bIns="0" rtlCol="0" anchor="ctr"/>
          <a:lstStyle/>
          <a:p>
            <a:pPr indent="0" marL="0">
              <a:buNone/>
            </a:pPr>
            <a:r>
              <a:rPr lang="en-US" sz="1100" b="1" dirty="0">
                <a:solidFill>
                  <a:srgbClr val="00D4A0"/>
                </a:solidFill>
                <a:latin typeface="Calibri" pitchFamily="34" charset="0"/>
                <a:ea typeface="Calibri" pitchFamily="34" charset="-122"/>
                <a:cs typeface="Calibri" pitchFamily="34" charset="-120"/>
              </a:rPr>
              <a:t>Backend</a:t>
            </a:r>
            <a:endParaRPr lang="en-US" sz="1100" dirty="0"/>
          </a:p>
        </p:txBody>
      </p:sp>
      <p:sp>
        <p:nvSpPr>
          <p:cNvPr id="18" name="Text 14"/>
          <p:cNvSpPr/>
          <p:nvPr/>
        </p:nvSpPr>
        <p:spPr>
          <a:xfrm>
            <a:off x="6080760" y="203911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Firebase (Realtime DB)</a:t>
            </a:r>
            <a:endParaRPr lang="en-US" sz="1100" dirty="0"/>
          </a:p>
        </p:txBody>
      </p:sp>
      <p:sp>
        <p:nvSpPr>
          <p:cNvPr id="19" name="Shape 15"/>
          <p:cNvSpPr/>
          <p:nvPr/>
        </p:nvSpPr>
        <p:spPr>
          <a:xfrm>
            <a:off x="4754880" y="2542032"/>
            <a:ext cx="3822192" cy="411480"/>
          </a:xfrm>
          <a:prstGeom prst="roundRect">
            <a:avLst>
              <a:gd name="adj" fmla="val 17778"/>
            </a:avLst>
          </a:prstGeom>
          <a:solidFill>
            <a:srgbClr val="0F1E35"/>
          </a:solidFill>
          <a:ln w="12700">
            <a:solidFill>
              <a:srgbClr val="FFB800"/>
            </a:solidFill>
            <a:prstDash val="solid"/>
          </a:ln>
        </p:spPr>
      </p:sp>
      <p:sp>
        <p:nvSpPr>
          <p:cNvPr id="20" name="Text 16"/>
          <p:cNvSpPr/>
          <p:nvPr/>
        </p:nvSpPr>
        <p:spPr>
          <a:xfrm>
            <a:off x="4846320" y="2542032"/>
            <a:ext cx="1188720" cy="411480"/>
          </a:xfrm>
          <a:prstGeom prst="rect">
            <a:avLst/>
          </a:prstGeom>
          <a:noFill/>
          <a:ln/>
        </p:spPr>
        <p:txBody>
          <a:bodyPr wrap="square" lIns="0" tIns="0" rIns="0" bIns="0"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Maps</a:t>
            </a:r>
            <a:endParaRPr lang="en-US" sz="1100" dirty="0"/>
          </a:p>
        </p:txBody>
      </p:sp>
      <p:sp>
        <p:nvSpPr>
          <p:cNvPr id="21" name="Text 17"/>
          <p:cNvSpPr/>
          <p:nvPr/>
        </p:nvSpPr>
        <p:spPr>
          <a:xfrm>
            <a:off x="6080760" y="254203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OpenStreetMap + Leaflet</a:t>
            </a:r>
            <a:endParaRPr lang="en-US" sz="1100" dirty="0"/>
          </a:p>
        </p:txBody>
      </p:sp>
      <p:sp>
        <p:nvSpPr>
          <p:cNvPr id="22" name="Shape 18"/>
          <p:cNvSpPr/>
          <p:nvPr/>
        </p:nvSpPr>
        <p:spPr>
          <a:xfrm>
            <a:off x="4754880" y="3044952"/>
            <a:ext cx="3822192" cy="411480"/>
          </a:xfrm>
          <a:prstGeom prst="roundRect">
            <a:avLst>
              <a:gd name="adj" fmla="val 17778"/>
            </a:avLst>
          </a:prstGeom>
          <a:solidFill>
            <a:srgbClr val="0F1E35"/>
          </a:solidFill>
          <a:ln w="12700">
            <a:solidFill>
              <a:srgbClr val="00BFA5"/>
            </a:solidFill>
            <a:prstDash val="solid"/>
          </a:ln>
        </p:spPr>
      </p:sp>
      <p:sp>
        <p:nvSpPr>
          <p:cNvPr id="23" name="Text 19"/>
          <p:cNvSpPr/>
          <p:nvPr/>
        </p:nvSpPr>
        <p:spPr>
          <a:xfrm>
            <a:off x="4846320" y="3044952"/>
            <a:ext cx="1188720" cy="411480"/>
          </a:xfrm>
          <a:prstGeom prst="rect">
            <a:avLst/>
          </a:prstGeom>
          <a:noFill/>
          <a:ln/>
        </p:spPr>
        <p:txBody>
          <a:bodyPr wrap="square" lIns="0" tIns="0" rIns="0" bIns="0" rtlCol="0" anchor="ctr"/>
          <a:lstStyle/>
          <a:p>
            <a:pPr indent="0" marL="0">
              <a:buNone/>
            </a:pPr>
            <a:r>
              <a:rPr lang="en-US" sz="1100" b="1" dirty="0">
                <a:solidFill>
                  <a:srgbClr val="00BFA5"/>
                </a:solidFill>
                <a:latin typeface="Calibri" pitchFamily="34" charset="0"/>
                <a:ea typeface="Calibri" pitchFamily="34" charset="-122"/>
                <a:cs typeface="Calibri" pitchFamily="34" charset="-120"/>
              </a:rPr>
              <a:t>Location</a:t>
            </a:r>
            <a:endParaRPr lang="en-US" sz="1100" dirty="0"/>
          </a:p>
        </p:txBody>
      </p:sp>
      <p:sp>
        <p:nvSpPr>
          <p:cNvPr id="24" name="Text 20"/>
          <p:cNvSpPr/>
          <p:nvPr/>
        </p:nvSpPr>
        <p:spPr>
          <a:xfrm>
            <a:off x="6080760" y="304495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Browser Geolocation API</a:t>
            </a:r>
            <a:endParaRPr lang="en-US" sz="1100" dirty="0"/>
          </a:p>
        </p:txBody>
      </p:sp>
      <p:sp>
        <p:nvSpPr>
          <p:cNvPr id="25" name="Shape 21"/>
          <p:cNvSpPr/>
          <p:nvPr/>
        </p:nvSpPr>
        <p:spPr>
          <a:xfrm>
            <a:off x="4754880" y="3547872"/>
            <a:ext cx="3822192" cy="411480"/>
          </a:xfrm>
          <a:prstGeom prst="roundRect">
            <a:avLst>
              <a:gd name="adj" fmla="val 17778"/>
            </a:avLst>
          </a:prstGeom>
          <a:solidFill>
            <a:srgbClr val="0F1E35"/>
          </a:solidFill>
          <a:ln w="12700">
            <a:solidFill>
              <a:srgbClr val="FF4D6A"/>
            </a:solidFill>
            <a:prstDash val="solid"/>
          </a:ln>
        </p:spPr>
      </p:sp>
      <p:sp>
        <p:nvSpPr>
          <p:cNvPr id="26" name="Text 22"/>
          <p:cNvSpPr/>
          <p:nvPr/>
        </p:nvSpPr>
        <p:spPr>
          <a:xfrm>
            <a:off x="4846320" y="3547872"/>
            <a:ext cx="1188720" cy="411480"/>
          </a:xfrm>
          <a:prstGeom prst="rect">
            <a:avLst/>
          </a:prstGeom>
          <a:noFill/>
          <a:ln/>
        </p:spPr>
        <p:txBody>
          <a:bodyPr wrap="square" lIns="0" tIns="0" rIns="0" bIns="0" rtlCol="0" anchor="ctr"/>
          <a:lstStyle/>
          <a:p>
            <a:pPr indent="0" marL="0">
              <a:buNone/>
            </a:pPr>
            <a:r>
              <a:rPr lang="en-US" sz="1100" b="1" dirty="0">
                <a:solidFill>
                  <a:srgbClr val="FF4D6A"/>
                </a:solidFill>
                <a:latin typeface="Calibri" pitchFamily="34" charset="0"/>
                <a:ea typeface="Calibri" pitchFamily="34" charset="-122"/>
                <a:cs typeface="Calibri" pitchFamily="34" charset="-120"/>
              </a:rPr>
              <a:t>Deployment</a:t>
            </a:r>
            <a:endParaRPr lang="en-US" sz="1100" dirty="0"/>
          </a:p>
        </p:txBody>
      </p:sp>
      <p:sp>
        <p:nvSpPr>
          <p:cNvPr id="27" name="Text 23"/>
          <p:cNvSpPr/>
          <p:nvPr/>
        </p:nvSpPr>
        <p:spPr>
          <a:xfrm>
            <a:off x="6080760" y="354787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Vercel</a:t>
            </a:r>
            <a:endParaRPr lang="en-US" sz="1100" dirty="0"/>
          </a:p>
        </p:txBody>
      </p:sp>
      <p:sp>
        <p:nvSpPr>
          <p:cNvPr id="28" name="Shape 24"/>
          <p:cNvSpPr/>
          <p:nvPr/>
        </p:nvSpPr>
        <p:spPr>
          <a:xfrm>
            <a:off x="4754880" y="4050792"/>
            <a:ext cx="3822192" cy="411480"/>
          </a:xfrm>
          <a:prstGeom prst="roundRect">
            <a:avLst>
              <a:gd name="adj" fmla="val 17778"/>
            </a:avLst>
          </a:prstGeom>
          <a:solidFill>
            <a:srgbClr val="0F1E35"/>
          </a:solidFill>
          <a:ln w="12700">
            <a:solidFill>
              <a:srgbClr val="00BFA5"/>
            </a:solidFill>
            <a:prstDash val="solid"/>
          </a:ln>
        </p:spPr>
      </p:sp>
      <p:sp>
        <p:nvSpPr>
          <p:cNvPr id="29" name="Text 25"/>
          <p:cNvSpPr/>
          <p:nvPr/>
        </p:nvSpPr>
        <p:spPr>
          <a:xfrm>
            <a:off x="4846320" y="4050792"/>
            <a:ext cx="1188720" cy="411480"/>
          </a:xfrm>
          <a:prstGeom prst="rect">
            <a:avLst/>
          </a:prstGeom>
          <a:noFill/>
          <a:ln/>
        </p:spPr>
        <p:txBody>
          <a:bodyPr wrap="square" lIns="0" tIns="0" rIns="0" bIns="0" rtlCol="0" anchor="ctr"/>
          <a:lstStyle/>
          <a:p>
            <a:pPr indent="0" marL="0">
              <a:buNone/>
            </a:pPr>
            <a:r>
              <a:rPr lang="en-US" sz="1100" b="1" dirty="0">
                <a:solidFill>
                  <a:srgbClr val="00BFA5"/>
                </a:solidFill>
                <a:latin typeface="Calibri" pitchFamily="34" charset="0"/>
                <a:ea typeface="Calibri" pitchFamily="34" charset="-122"/>
                <a:cs typeface="Calibri" pitchFamily="34" charset="-120"/>
              </a:rPr>
              <a:t>AI Layer</a:t>
            </a:r>
            <a:endParaRPr lang="en-US" sz="1100" dirty="0"/>
          </a:p>
        </p:txBody>
      </p:sp>
      <p:sp>
        <p:nvSpPr>
          <p:cNvPr id="30" name="Text 26"/>
          <p:cNvSpPr/>
          <p:nvPr/>
        </p:nvSpPr>
        <p:spPr>
          <a:xfrm>
            <a:off x="6080760" y="4050792"/>
            <a:ext cx="23774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Rule-Based Prediction Engine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A0"/>
          </a:solidFill>
          <a:ln w="12700">
            <a:solidFill>
              <a:srgbClr val="00D4A0"/>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Impact at Scale</a:t>
            </a:r>
            <a:endParaRPr lang="en-US" sz="2800" dirty="0"/>
          </a:p>
        </p:txBody>
      </p:sp>
      <p:sp>
        <p:nvSpPr>
          <p:cNvPr id="4" name="Shape 2"/>
          <p:cNvSpPr/>
          <p:nvPr/>
        </p:nvSpPr>
        <p:spPr>
          <a:xfrm>
            <a:off x="274320" y="822960"/>
            <a:ext cx="2715768" cy="1188720"/>
          </a:xfrm>
          <a:prstGeom prst="roundRect">
            <a:avLst>
              <a:gd name="adj" fmla="val 9231"/>
            </a:avLst>
          </a:prstGeom>
          <a:solidFill>
            <a:srgbClr val="F5F7FA"/>
          </a:solidFill>
          <a:ln w="19050">
            <a:solidFill>
              <a:srgbClr val="00BFA5"/>
            </a:solidFill>
            <a:prstDash val="solid"/>
          </a:ln>
          <a:effectLst>
            <a:outerShdw sx="100000" sy="100000" kx="0" ky="0" algn="bl" rotWithShape="0" blurRad="127000" dist="38100" dir="2700000">
              <a:srgbClr val="000000">
                <a:alpha val="25000"/>
              </a:srgbClr>
            </a:outerShdw>
          </a:effectLst>
        </p:spPr>
      </p:sp>
      <p:sp>
        <p:nvSpPr>
          <p:cNvPr id="5" name="Text 3"/>
          <p:cNvSpPr/>
          <p:nvPr/>
        </p:nvSpPr>
        <p:spPr>
          <a:xfrm>
            <a:off x="274320" y="841248"/>
            <a:ext cx="2715768" cy="594360"/>
          </a:xfrm>
          <a:prstGeom prst="rect">
            <a:avLst/>
          </a:prstGeom>
          <a:noFill/>
          <a:ln/>
        </p:spPr>
        <p:txBody>
          <a:bodyPr wrap="square" lIns="0" tIns="0" rIns="0" bIns="0" rtlCol="0" anchor="ctr"/>
          <a:lstStyle/>
          <a:p>
            <a:pPr algn="ctr" indent="0" marL="0">
              <a:buNone/>
            </a:pPr>
            <a:r>
              <a:rPr lang="en-US" sz="2600" b="1" dirty="0">
                <a:solidFill>
                  <a:srgbClr val="00BFA5"/>
                </a:solidFill>
                <a:latin typeface="Calibri" pitchFamily="34" charset="0"/>
                <a:ea typeface="Calibri" pitchFamily="34" charset="-122"/>
                <a:cs typeface="Calibri" pitchFamily="34" charset="-120"/>
              </a:rPr>
              <a:t>450M+</a:t>
            </a:r>
            <a:endParaRPr lang="en-US" sz="2600" dirty="0"/>
          </a:p>
        </p:txBody>
      </p:sp>
      <p:sp>
        <p:nvSpPr>
          <p:cNvPr id="6" name="Text 4"/>
          <p:cNvSpPr/>
          <p:nvPr/>
        </p:nvSpPr>
        <p:spPr>
          <a:xfrm>
            <a:off x="274320" y="1417320"/>
            <a:ext cx="2715768" cy="54864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Daily Commuters in India</a:t>
            </a:r>
            <a:endParaRPr lang="en-US" sz="1000" dirty="0"/>
          </a:p>
        </p:txBody>
      </p:sp>
      <p:sp>
        <p:nvSpPr>
          <p:cNvPr id="7" name="Shape 5"/>
          <p:cNvSpPr/>
          <p:nvPr/>
        </p:nvSpPr>
        <p:spPr>
          <a:xfrm>
            <a:off x="3172968" y="822960"/>
            <a:ext cx="2715768" cy="1188720"/>
          </a:xfrm>
          <a:prstGeom prst="roundRect">
            <a:avLst>
              <a:gd name="adj" fmla="val 9231"/>
            </a:avLst>
          </a:prstGeom>
          <a:solidFill>
            <a:srgbClr val="F5F7FA"/>
          </a:solidFill>
          <a:ln w="19050">
            <a:solidFill>
              <a:srgbClr val="FF4D6A"/>
            </a:solidFill>
            <a:prstDash val="solid"/>
          </a:ln>
          <a:effectLst>
            <a:outerShdw sx="100000" sy="100000" kx="0" ky="0" algn="bl" rotWithShape="0" blurRad="127000" dist="38100" dir="2700000">
              <a:srgbClr val="000000">
                <a:alpha val="25000"/>
              </a:srgbClr>
            </a:outerShdw>
          </a:effectLst>
        </p:spPr>
      </p:sp>
      <p:sp>
        <p:nvSpPr>
          <p:cNvPr id="8" name="Text 6"/>
          <p:cNvSpPr/>
          <p:nvPr/>
        </p:nvSpPr>
        <p:spPr>
          <a:xfrm>
            <a:off x="3172968" y="841248"/>
            <a:ext cx="2715768" cy="594360"/>
          </a:xfrm>
          <a:prstGeom prst="rect">
            <a:avLst/>
          </a:prstGeom>
          <a:noFill/>
          <a:ln/>
        </p:spPr>
        <p:txBody>
          <a:bodyPr wrap="square" lIns="0" tIns="0" rIns="0" bIns="0" rtlCol="0" anchor="ctr"/>
          <a:lstStyle/>
          <a:p>
            <a:pPr algn="ctr" indent="0" marL="0">
              <a:buNone/>
            </a:pPr>
            <a:r>
              <a:rPr lang="en-US" sz="2600" b="1" dirty="0">
                <a:solidFill>
                  <a:srgbClr val="FF4D6A"/>
                </a:solidFill>
                <a:latin typeface="Calibri" pitchFamily="34" charset="0"/>
                <a:ea typeface="Calibri" pitchFamily="34" charset="-122"/>
                <a:cs typeface="Calibri" pitchFamily="34" charset="-120"/>
              </a:rPr>
              <a:t>62%</a:t>
            </a:r>
            <a:endParaRPr lang="en-US" sz="2600" dirty="0"/>
          </a:p>
        </p:txBody>
      </p:sp>
      <p:sp>
        <p:nvSpPr>
          <p:cNvPr id="9" name="Text 7"/>
          <p:cNvSpPr/>
          <p:nvPr/>
        </p:nvSpPr>
        <p:spPr>
          <a:xfrm>
            <a:off x="3172968" y="1417320"/>
            <a:ext cx="2715768" cy="54864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Women report safety concerns</a:t>
            </a:r>
            <a:endParaRPr lang="en-US" sz="1000" dirty="0"/>
          </a:p>
          <a:p>
            <a:pPr algn="ctr" indent="0" marL="0">
              <a:buNone/>
            </a:pPr>
            <a:r>
              <a:rPr lang="en-US" sz="1000" dirty="0">
                <a:solidFill>
                  <a:srgbClr val="555555"/>
                </a:solidFill>
                <a:latin typeface="Calibri" pitchFamily="34" charset="0"/>
                <a:ea typeface="Calibri" pitchFamily="34" charset="-122"/>
                <a:cs typeface="Calibri" pitchFamily="34" charset="-120"/>
              </a:rPr>
              <a:t>during daily commute</a:t>
            </a:r>
            <a:endParaRPr lang="en-US" sz="1000" dirty="0"/>
          </a:p>
        </p:txBody>
      </p:sp>
      <p:sp>
        <p:nvSpPr>
          <p:cNvPr id="10" name="Shape 8"/>
          <p:cNvSpPr/>
          <p:nvPr/>
        </p:nvSpPr>
        <p:spPr>
          <a:xfrm>
            <a:off x="6071616" y="822960"/>
            <a:ext cx="2715768" cy="1188720"/>
          </a:xfrm>
          <a:prstGeom prst="roundRect">
            <a:avLst>
              <a:gd name="adj" fmla="val 9231"/>
            </a:avLst>
          </a:prstGeom>
          <a:solidFill>
            <a:srgbClr val="F5F7FA"/>
          </a:solidFill>
          <a:ln w="19050">
            <a:solidFill>
              <a:srgbClr val="FFB800"/>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6071616" y="841248"/>
            <a:ext cx="2715768" cy="594360"/>
          </a:xfrm>
          <a:prstGeom prst="rect">
            <a:avLst/>
          </a:prstGeom>
          <a:noFill/>
          <a:ln/>
        </p:spPr>
        <p:txBody>
          <a:bodyPr wrap="square" lIns="0" tIns="0" rIns="0" bIns="0" rtlCol="0" anchor="ctr"/>
          <a:lstStyle/>
          <a:p>
            <a:pPr algn="ctr" indent="0" marL="0">
              <a:buNone/>
            </a:pPr>
            <a:r>
              <a:rPr lang="en-US" sz="2600" b="1" dirty="0">
                <a:solidFill>
                  <a:srgbClr val="FFB800"/>
                </a:solidFill>
                <a:latin typeface="Calibri" pitchFamily="34" charset="0"/>
                <a:ea typeface="Calibri" pitchFamily="34" charset="-122"/>
                <a:cs typeface="Calibri" pitchFamily="34" charset="-120"/>
              </a:rPr>
              <a:t>₹12,000 Cr</a:t>
            </a:r>
            <a:endParaRPr lang="en-US" sz="2600" dirty="0"/>
          </a:p>
        </p:txBody>
      </p:sp>
      <p:sp>
        <p:nvSpPr>
          <p:cNvPr id="12" name="Text 10"/>
          <p:cNvSpPr/>
          <p:nvPr/>
        </p:nvSpPr>
        <p:spPr>
          <a:xfrm>
            <a:off x="6071616" y="1417320"/>
            <a:ext cx="2715768" cy="54864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Urban Mobility Safety</a:t>
            </a:r>
            <a:endParaRPr lang="en-US" sz="1000" dirty="0"/>
          </a:p>
          <a:p>
            <a:pPr algn="ctr" indent="0" marL="0">
              <a:buNone/>
            </a:pPr>
            <a:r>
              <a:rPr lang="en-US" sz="1000" dirty="0">
                <a:solidFill>
                  <a:srgbClr val="555555"/>
                </a:solidFill>
                <a:latin typeface="Calibri" pitchFamily="34" charset="0"/>
                <a:ea typeface="Calibri" pitchFamily="34" charset="-122"/>
                <a:cs typeface="Calibri" pitchFamily="34" charset="-120"/>
              </a:rPr>
              <a:t>Market Opportunity</a:t>
            </a:r>
            <a:endParaRPr lang="en-US" sz="1000" dirty="0"/>
          </a:p>
        </p:txBody>
      </p:sp>
      <p:sp>
        <p:nvSpPr>
          <p:cNvPr id="13" name="Shape 11"/>
          <p:cNvSpPr/>
          <p:nvPr/>
        </p:nvSpPr>
        <p:spPr>
          <a:xfrm>
            <a:off x="274320" y="2212848"/>
            <a:ext cx="2715768" cy="2697480"/>
          </a:xfrm>
          <a:prstGeom prst="roundRect">
            <a:avLst>
              <a:gd name="adj" fmla="val 4068"/>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pic>
        <p:nvPicPr>
          <p:cNvPr id="14" name="Image 0" descr="preencoded.png"/>
          <p:cNvPicPr>
            <a:picLocks noChangeAspect="1"/>
          </p:cNvPicPr>
          <p:nvPr/>
        </p:nvPicPr>
        <p:blipFill>
          <a:blip r:embed="rId1"/>
          <a:stretch>
            <a:fillRect/>
          </a:stretch>
        </p:blipFill>
        <p:spPr>
          <a:xfrm>
            <a:off x="457200" y="2304288"/>
            <a:ext cx="438912" cy="438912"/>
          </a:xfrm>
          <a:prstGeom prst="rect">
            <a:avLst/>
          </a:prstGeom>
        </p:spPr>
      </p:pic>
      <p:sp>
        <p:nvSpPr>
          <p:cNvPr id="15" name="Text 12"/>
          <p:cNvSpPr/>
          <p:nvPr/>
        </p:nvSpPr>
        <p:spPr>
          <a:xfrm>
            <a:off x="987552" y="2304288"/>
            <a:ext cx="1828800" cy="438912"/>
          </a:xfrm>
          <a:prstGeom prst="rect">
            <a:avLst/>
          </a:prstGeom>
          <a:noFill/>
          <a:ln/>
        </p:spPr>
        <p:txBody>
          <a:bodyPr wrap="square" lIns="0" tIns="0" rIns="0" bIns="0" rtlCol="0" anchor="ctr"/>
          <a:lstStyle/>
          <a:p>
            <a:pPr indent="0" marL="0">
              <a:buNone/>
            </a:pPr>
            <a:r>
              <a:rPr lang="en-US" sz="1300" b="1" dirty="0">
                <a:solidFill>
                  <a:srgbClr val="00BFA5"/>
                </a:solidFill>
                <a:latin typeface="Calibri" pitchFamily="34" charset="0"/>
                <a:ea typeface="Calibri" pitchFamily="34" charset="-122"/>
                <a:cs typeface="Calibri" pitchFamily="34" charset="-120"/>
              </a:rPr>
              <a:t>For Commuters</a:t>
            </a:r>
            <a:endParaRPr lang="en-US" sz="1300" dirty="0"/>
          </a:p>
        </p:txBody>
      </p:sp>
      <p:sp>
        <p:nvSpPr>
          <p:cNvPr id="16" name="Text 13"/>
          <p:cNvSpPr/>
          <p:nvPr/>
        </p:nvSpPr>
        <p:spPr>
          <a:xfrm>
            <a:off x="457200" y="2834640"/>
            <a:ext cx="2377440" cy="1965960"/>
          </a:xfrm>
          <a:prstGeom prst="rect">
            <a:avLst/>
          </a:prstGeom>
          <a:noFill/>
          <a:ln/>
        </p:spPr>
        <p:txBody>
          <a:bodyPr wrap="square" lIns="0" tIns="0" rIns="0" bIns="0" rtlCol="0" anchor="ctr"/>
          <a:lstStyle/>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Safer journeys, every day</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Continuous journey protection</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Reduced uncertainty &amp; fear</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Better trust in mobility</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Real-time family alerts</a:t>
            </a:r>
            <a:endParaRPr lang="en-US" sz="1100" dirty="0"/>
          </a:p>
        </p:txBody>
      </p:sp>
      <p:sp>
        <p:nvSpPr>
          <p:cNvPr id="17" name="Shape 14"/>
          <p:cNvSpPr/>
          <p:nvPr/>
        </p:nvSpPr>
        <p:spPr>
          <a:xfrm>
            <a:off x="3172968" y="2212848"/>
            <a:ext cx="2715768" cy="2697480"/>
          </a:xfrm>
          <a:prstGeom prst="roundRect">
            <a:avLst>
              <a:gd name="adj" fmla="val 4068"/>
            </a:avLst>
          </a:prstGeom>
          <a:solidFill>
            <a:srgbClr val="F5F7FA"/>
          </a:solidFill>
          <a:ln w="15240">
            <a:solidFill>
              <a:srgbClr val="00D4A0"/>
            </a:solidFill>
            <a:prstDash val="solid"/>
          </a:ln>
          <a:effectLst>
            <a:outerShdw sx="100000" sy="100000" kx="0" ky="0" algn="bl" rotWithShape="0" blurRad="127000" dist="38100" dir="2700000">
              <a:srgbClr val="000000">
                <a:alpha val="25000"/>
              </a:srgbClr>
            </a:outerShdw>
          </a:effectLst>
        </p:spPr>
      </p:sp>
      <p:pic>
        <p:nvPicPr>
          <p:cNvPr id="18" name="Image 1" descr="preencoded.png"/>
          <p:cNvPicPr>
            <a:picLocks noChangeAspect="1"/>
          </p:cNvPicPr>
          <p:nvPr/>
        </p:nvPicPr>
        <p:blipFill>
          <a:blip r:embed="rId2"/>
          <a:stretch>
            <a:fillRect/>
          </a:stretch>
        </p:blipFill>
        <p:spPr>
          <a:xfrm>
            <a:off x="3355848" y="2304288"/>
            <a:ext cx="438912" cy="438912"/>
          </a:xfrm>
          <a:prstGeom prst="rect">
            <a:avLst/>
          </a:prstGeom>
        </p:spPr>
      </p:pic>
      <p:sp>
        <p:nvSpPr>
          <p:cNvPr id="19" name="Text 15"/>
          <p:cNvSpPr/>
          <p:nvPr/>
        </p:nvSpPr>
        <p:spPr>
          <a:xfrm>
            <a:off x="3886200" y="2304288"/>
            <a:ext cx="1828800" cy="438912"/>
          </a:xfrm>
          <a:prstGeom prst="rect">
            <a:avLst/>
          </a:prstGeom>
          <a:noFill/>
          <a:ln/>
        </p:spPr>
        <p:txBody>
          <a:bodyPr wrap="square" lIns="0" tIns="0" rIns="0" bIns="0" rtlCol="0" anchor="ctr"/>
          <a:lstStyle/>
          <a:p>
            <a:pPr indent="0" marL="0">
              <a:buNone/>
            </a:pPr>
            <a:r>
              <a:rPr lang="en-US" sz="1300" b="1" dirty="0">
                <a:solidFill>
                  <a:srgbClr val="00D4A0"/>
                </a:solidFill>
                <a:latin typeface="Calibri" pitchFamily="34" charset="0"/>
                <a:ea typeface="Calibri" pitchFamily="34" charset="-122"/>
                <a:cs typeface="Calibri" pitchFamily="34" charset="-120"/>
              </a:rPr>
              <a:t>For Platforms</a:t>
            </a:r>
            <a:endParaRPr lang="en-US" sz="1300" dirty="0"/>
          </a:p>
        </p:txBody>
      </p:sp>
      <p:sp>
        <p:nvSpPr>
          <p:cNvPr id="20" name="Text 16"/>
          <p:cNvSpPr/>
          <p:nvPr/>
        </p:nvSpPr>
        <p:spPr>
          <a:xfrm>
            <a:off x="3355848" y="2834640"/>
            <a:ext cx="2377440" cy="1965960"/>
          </a:xfrm>
          <a:prstGeom prst="rect">
            <a:avLst/>
          </a:prstGeom>
          <a:noFill/>
          <a:ln/>
        </p:spPr>
        <p:txBody>
          <a:bodyPr wrap="square" lIns="0" tIns="0" rIns="0" bIns="0" rtlCol="0" anchor="ctr"/>
          <a:lstStyle/>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Increased user retention</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Reduced safety incidents</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Improved brand reputation</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Regulatory compliance edge</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Safety-led differentiation</a:t>
            </a:r>
            <a:endParaRPr lang="en-US" sz="1100" dirty="0"/>
          </a:p>
        </p:txBody>
      </p:sp>
      <p:sp>
        <p:nvSpPr>
          <p:cNvPr id="21" name="Shape 17"/>
          <p:cNvSpPr/>
          <p:nvPr/>
        </p:nvSpPr>
        <p:spPr>
          <a:xfrm>
            <a:off x="6071616" y="2212848"/>
            <a:ext cx="2715768" cy="2697480"/>
          </a:xfrm>
          <a:prstGeom prst="roundRect">
            <a:avLst>
              <a:gd name="adj" fmla="val 4068"/>
            </a:avLst>
          </a:prstGeom>
          <a:solidFill>
            <a:srgbClr val="F5F7FA"/>
          </a:solidFill>
          <a:ln w="15240">
            <a:solidFill>
              <a:srgbClr val="FFB800"/>
            </a:solidFill>
            <a:prstDash val="solid"/>
          </a:ln>
          <a:effectLst>
            <a:outerShdw sx="100000" sy="100000" kx="0" ky="0" algn="bl" rotWithShape="0" blurRad="127000" dist="38100" dir="2700000">
              <a:srgbClr val="000000">
                <a:alpha val="25000"/>
              </a:srgbClr>
            </a:outerShdw>
          </a:effectLst>
        </p:spPr>
      </p:sp>
      <p:pic>
        <p:nvPicPr>
          <p:cNvPr id="22" name="Image 2" descr="preencoded.png"/>
          <p:cNvPicPr>
            <a:picLocks noChangeAspect="1"/>
          </p:cNvPicPr>
          <p:nvPr/>
        </p:nvPicPr>
        <p:blipFill>
          <a:blip r:embed="rId3"/>
          <a:stretch>
            <a:fillRect/>
          </a:stretch>
        </p:blipFill>
        <p:spPr>
          <a:xfrm>
            <a:off x="6254496" y="2304288"/>
            <a:ext cx="438912" cy="438912"/>
          </a:xfrm>
          <a:prstGeom prst="rect">
            <a:avLst/>
          </a:prstGeom>
        </p:spPr>
      </p:pic>
      <p:sp>
        <p:nvSpPr>
          <p:cNvPr id="23" name="Text 18"/>
          <p:cNvSpPr/>
          <p:nvPr/>
        </p:nvSpPr>
        <p:spPr>
          <a:xfrm>
            <a:off x="6784848" y="2304288"/>
            <a:ext cx="1828800" cy="438912"/>
          </a:xfrm>
          <a:prstGeom prst="rect">
            <a:avLst/>
          </a:prstGeom>
          <a:noFill/>
          <a:ln/>
        </p:spPr>
        <p:txBody>
          <a:bodyPr wrap="square" lIns="0" tIns="0" rIns="0" bIns="0"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Target Users</a:t>
            </a:r>
            <a:endParaRPr lang="en-US" sz="1300" dirty="0"/>
          </a:p>
        </p:txBody>
      </p:sp>
      <p:sp>
        <p:nvSpPr>
          <p:cNvPr id="24" name="Text 19"/>
          <p:cNvSpPr/>
          <p:nvPr/>
        </p:nvSpPr>
        <p:spPr>
          <a:xfrm>
            <a:off x="6254496" y="2834640"/>
            <a:ext cx="2377440" cy="1965960"/>
          </a:xfrm>
          <a:prstGeom prst="rect">
            <a:avLst/>
          </a:prstGeom>
          <a:noFill/>
          <a:ln/>
        </p:spPr>
        <p:txBody>
          <a:bodyPr wrap="square" lIns="0" tIns="0" rIns="0" bIns="0" rtlCol="0" anchor="ctr"/>
          <a:lstStyle/>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Women commuters</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Students &amp; youth</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Elderly citizens</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Night-shift workers</a:t>
            </a:r>
            <a:endParaRPr lang="en-US" sz="1100" dirty="0"/>
          </a:p>
          <a:p>
            <a:pPr marL="342900" indent="-342900">
              <a:buSzPct val="100000"/>
              <a:buChar char="•"/>
            </a:pPr>
            <a:r>
              <a:rPr lang="en-US" sz="1100" dirty="0">
                <a:solidFill>
                  <a:srgbClr val="0A2342"/>
                </a:solidFill>
                <a:latin typeface="Calibri" pitchFamily="34" charset="0"/>
                <a:ea typeface="Calibri" pitchFamily="34" charset="-122"/>
                <a:cs typeface="Calibri" pitchFamily="34" charset="-120"/>
              </a:rPr>
              <a:t>Families tracking loved ones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00" y="457200"/>
            <a:ext cx="5486400" cy="4114800"/>
          </a:xfrm>
          <a:prstGeom prst="ellipse">
            <a:avLst/>
          </a:prstGeom>
          <a:solidFill>
            <a:srgbClr val="0A2342">
              <a:alpha val="8000"/>
            </a:srgbClr>
          </a:solidFill>
          <a:ln w="12700">
            <a:solidFill>
              <a:srgbClr val="0A2342"/>
            </a:solidFill>
            <a:prstDash val="solid"/>
          </a:ln>
        </p:spPr>
      </p:sp>
      <p:sp>
        <p:nvSpPr>
          <p:cNvPr id="3" name="Shape 1"/>
          <p:cNvSpPr/>
          <p:nvPr/>
        </p:nvSpPr>
        <p:spPr>
          <a:xfrm>
            <a:off x="0" y="0"/>
            <a:ext cx="9144000" cy="54864"/>
          </a:xfrm>
          <a:prstGeom prst="rect">
            <a:avLst/>
          </a:prstGeom>
          <a:solidFill>
            <a:srgbClr val="00BFA5"/>
          </a:solidFill>
          <a:ln w="12700">
            <a:solidFill>
              <a:srgbClr val="00BFA5"/>
            </a:solidFill>
            <a:prstDash val="solid"/>
          </a:ln>
        </p:spPr>
      </p:sp>
      <p:sp>
        <p:nvSpPr>
          <p:cNvPr id="4" name="Text 2"/>
          <p:cNvSpPr/>
          <p:nvPr/>
        </p:nvSpPr>
        <p:spPr>
          <a:xfrm>
            <a:off x="365760" y="164592"/>
            <a:ext cx="8412480" cy="548640"/>
          </a:xfrm>
          <a:prstGeom prst="rect">
            <a:avLst/>
          </a:prstGeom>
          <a:noFill/>
          <a:ln/>
        </p:spPr>
        <p:txBody>
          <a:bodyPr wrap="square" lIns="0" tIns="0" rIns="0" bIns="0" rtlCol="0" anchor="ctr"/>
          <a:lstStyle/>
          <a:p>
            <a:pPr indent="0" marL="0">
              <a:buNone/>
            </a:pPr>
            <a:r>
              <a:rPr lang="en-US" sz="2800" b="1" dirty="0">
                <a:solidFill>
                  <a:srgbClr val="0A2342"/>
                </a:solidFill>
                <a:latin typeface="Calibri" pitchFamily="34" charset="0"/>
                <a:ea typeface="Calibri" pitchFamily="34" charset="-122"/>
                <a:cs typeface="Calibri" pitchFamily="34" charset="-120"/>
              </a:rPr>
              <a:t>The Future of Safe Urban Mobility</a:t>
            </a:r>
            <a:endParaRPr lang="en-US" sz="2800" dirty="0"/>
          </a:p>
        </p:txBody>
      </p:sp>
      <p:sp>
        <p:nvSpPr>
          <p:cNvPr id="5" name="Shape 3"/>
          <p:cNvSpPr/>
          <p:nvPr/>
        </p:nvSpPr>
        <p:spPr>
          <a:xfrm>
            <a:off x="950976" y="868680"/>
            <a:ext cx="640080" cy="640080"/>
          </a:xfrm>
          <a:prstGeom prst="ellipse">
            <a:avLst/>
          </a:prstGeom>
          <a:solidFill>
            <a:srgbClr val="00D4A0"/>
          </a:solidFill>
          <a:ln w="12700">
            <a:solidFill>
              <a:srgbClr val="00D4A0"/>
            </a:solidFill>
            <a:prstDash val="solid"/>
          </a:ln>
          <a:effectLst>
            <a:outerShdw sx="100000" sy="100000" kx="0" ky="0" algn="bl" rotWithShape="0" blurRad="127000" dist="38100" dir="2700000">
              <a:srgbClr val="000000">
                <a:alpha val="25000"/>
              </a:srgbClr>
            </a:outerShdw>
          </a:effectLst>
        </p:spPr>
      </p:sp>
      <p:sp>
        <p:nvSpPr>
          <p:cNvPr id="6" name="Text 4"/>
          <p:cNvSpPr/>
          <p:nvPr/>
        </p:nvSpPr>
        <p:spPr>
          <a:xfrm>
            <a:off x="950976" y="868680"/>
            <a:ext cx="640080" cy="640080"/>
          </a:xfrm>
          <a:prstGeom prst="rect">
            <a:avLst/>
          </a:prstGeom>
          <a:noFill/>
          <a:ln/>
        </p:spPr>
        <p:txBody>
          <a:bodyPr wrap="square" lIns="0" tIns="0" rIns="0" bIns="0" rtlCol="0" anchor="ctr"/>
          <a:lstStyle/>
          <a:p>
            <a:pPr algn="ctr" indent="0" marL="0">
              <a:buNone/>
            </a:pPr>
            <a:r>
              <a:rPr lang="en-US" sz="1500" b="1" dirty="0">
                <a:solidFill>
                  <a:srgbClr val="0A2342"/>
                </a:solidFill>
                <a:latin typeface="Calibri" pitchFamily="34" charset="0"/>
                <a:ea typeface="Calibri" pitchFamily="34" charset="-122"/>
                <a:cs typeface="Calibri" pitchFamily="34" charset="-120"/>
              </a:rPr>
              <a:t>1</a:t>
            </a:r>
            <a:endParaRPr lang="en-US" sz="1500" dirty="0"/>
          </a:p>
        </p:txBody>
      </p:sp>
      <p:sp>
        <p:nvSpPr>
          <p:cNvPr id="7" name="Shape 5"/>
          <p:cNvSpPr/>
          <p:nvPr/>
        </p:nvSpPr>
        <p:spPr>
          <a:xfrm>
            <a:off x="1591056" y="1188720"/>
            <a:ext cx="859536" cy="0"/>
          </a:xfrm>
          <a:prstGeom prst="line">
            <a:avLst/>
          </a:prstGeom>
          <a:noFill/>
          <a:ln w="19050">
            <a:solidFill>
              <a:srgbClr val="00D4A0"/>
            </a:solidFill>
            <a:prstDash val="dash"/>
          </a:ln>
        </p:spPr>
      </p:sp>
      <p:sp>
        <p:nvSpPr>
          <p:cNvPr id="8" name="Shape 6"/>
          <p:cNvSpPr/>
          <p:nvPr/>
        </p:nvSpPr>
        <p:spPr>
          <a:xfrm>
            <a:off x="274320" y="1664208"/>
            <a:ext cx="1993392" cy="960120"/>
          </a:xfrm>
          <a:prstGeom prst="roundRect">
            <a:avLst>
              <a:gd name="adj" fmla="val 9524"/>
            </a:avLst>
          </a:prstGeom>
          <a:solidFill>
            <a:srgbClr val="F5F7FA"/>
          </a:solidFill>
          <a:ln w="15240">
            <a:solidFill>
              <a:srgbClr val="00D4A0"/>
            </a:solidFill>
            <a:prstDash val="solid"/>
          </a:ln>
          <a:effectLst>
            <a:outerShdw sx="100000" sy="100000" kx="0" ky="0" algn="bl" rotWithShape="0" blurRad="127000" dist="38100" dir="2700000">
              <a:srgbClr val="000000">
                <a:alpha val="25000"/>
              </a:srgbClr>
            </a:outerShdw>
          </a:effectLst>
        </p:spPr>
      </p:sp>
      <p:sp>
        <p:nvSpPr>
          <p:cNvPr id="9" name="Text 7"/>
          <p:cNvSpPr/>
          <p:nvPr/>
        </p:nvSpPr>
        <p:spPr>
          <a:xfrm>
            <a:off x="274320" y="1664208"/>
            <a:ext cx="1993392" cy="384048"/>
          </a:xfrm>
          <a:prstGeom prst="rect">
            <a:avLst/>
          </a:prstGeom>
          <a:noFill/>
          <a:ln/>
        </p:spPr>
        <p:txBody>
          <a:bodyPr wrap="square" lIns="0" tIns="0" rIns="0" bIns="0" rtlCol="0" anchor="ctr"/>
          <a:lstStyle/>
          <a:p>
            <a:pPr algn="ctr" indent="0" marL="0">
              <a:buNone/>
            </a:pPr>
            <a:r>
              <a:rPr lang="en-US" sz="1100" b="1" dirty="0">
                <a:solidFill>
                  <a:srgbClr val="00D4A0"/>
                </a:solidFill>
                <a:latin typeface="Calibri" pitchFamily="34" charset="0"/>
                <a:ea typeface="Calibri" pitchFamily="34" charset="-122"/>
                <a:cs typeface="Calibri" pitchFamily="34" charset="-120"/>
              </a:rPr>
              <a:t>Phase 1</a:t>
            </a:r>
            <a:endParaRPr lang="en-US" sz="1100" dirty="0"/>
          </a:p>
          <a:p>
            <a:pPr algn="ctr" indent="0" marL="0">
              <a:buNone/>
            </a:pPr>
            <a:r>
              <a:rPr lang="en-US" sz="1100" b="1" dirty="0">
                <a:solidFill>
                  <a:srgbClr val="00D4A0"/>
                </a:solidFill>
                <a:latin typeface="Calibri" pitchFamily="34" charset="0"/>
                <a:ea typeface="Calibri" pitchFamily="34" charset="-122"/>
                <a:cs typeface="Calibri" pitchFamily="34" charset="-120"/>
              </a:rPr>
              <a:t>Now</a:t>
            </a:r>
            <a:endParaRPr lang="en-US" sz="1100" dirty="0"/>
          </a:p>
        </p:txBody>
      </p:sp>
      <p:sp>
        <p:nvSpPr>
          <p:cNvPr id="10" name="Text 8"/>
          <p:cNvSpPr/>
          <p:nvPr/>
        </p:nvSpPr>
        <p:spPr>
          <a:xfrm>
            <a:off x="384048" y="2048256"/>
            <a:ext cx="1773936" cy="548640"/>
          </a:xfrm>
          <a:prstGeom prst="rect">
            <a:avLst/>
          </a:prstGeom>
          <a:noFill/>
          <a:ln/>
        </p:spPr>
        <p:txBody>
          <a:bodyPr wrap="square" lIns="0" tIns="0" rIns="0" bIns="0" rtlCol="0" anchor="ctr"/>
          <a:lstStyle/>
          <a:p>
            <a:pPr indent="0" marL="0">
              <a:buNone/>
            </a:pPr>
            <a:r>
              <a:rPr lang="en-US" sz="950" dirty="0">
                <a:solidFill>
                  <a:srgbClr val="555555"/>
                </a:solidFill>
                <a:latin typeface="Calibri" pitchFamily="34" charset="0"/>
                <a:ea typeface="Calibri" pitchFamily="34" charset="-122"/>
                <a:cs typeface="Calibri" pitchFamily="34" charset="-120"/>
              </a:rPr>
              <a:t>AI Guardian Mode · Safe Handover · Trust Score · SOS · Heatmap</a:t>
            </a:r>
            <a:endParaRPr lang="en-US" sz="950" dirty="0"/>
          </a:p>
        </p:txBody>
      </p:sp>
      <p:sp>
        <p:nvSpPr>
          <p:cNvPr id="11" name="Shape 9"/>
          <p:cNvSpPr/>
          <p:nvPr/>
        </p:nvSpPr>
        <p:spPr>
          <a:xfrm>
            <a:off x="3127248" y="868680"/>
            <a:ext cx="640080" cy="640080"/>
          </a:xfrm>
          <a:prstGeom prst="ellipse">
            <a:avLst/>
          </a:prstGeom>
          <a:solidFill>
            <a:srgbClr val="00BFA5"/>
          </a:solidFill>
          <a:ln w="12700">
            <a:solidFill>
              <a:srgbClr val="00BFA5"/>
            </a:solidFill>
            <a:prstDash val="solid"/>
          </a:ln>
          <a:effectLst>
            <a:outerShdw sx="100000" sy="100000" kx="0" ky="0" algn="bl" rotWithShape="0" blurRad="127000" dist="38100" dir="2700000">
              <a:srgbClr val="000000">
                <a:alpha val="25000"/>
              </a:srgbClr>
            </a:outerShdw>
          </a:effectLst>
        </p:spPr>
      </p:sp>
      <p:sp>
        <p:nvSpPr>
          <p:cNvPr id="12" name="Text 10"/>
          <p:cNvSpPr/>
          <p:nvPr/>
        </p:nvSpPr>
        <p:spPr>
          <a:xfrm>
            <a:off x="3127248" y="868680"/>
            <a:ext cx="640080" cy="640080"/>
          </a:xfrm>
          <a:prstGeom prst="rect">
            <a:avLst/>
          </a:prstGeom>
          <a:noFill/>
          <a:ln/>
        </p:spPr>
        <p:txBody>
          <a:bodyPr wrap="square" lIns="0" tIns="0" rIns="0" bIns="0" rtlCol="0" anchor="ctr"/>
          <a:lstStyle/>
          <a:p>
            <a:pPr algn="ctr" indent="0" marL="0">
              <a:buNone/>
            </a:pPr>
            <a:r>
              <a:rPr lang="en-US" sz="1500" b="1" dirty="0">
                <a:solidFill>
                  <a:srgbClr val="0A2342"/>
                </a:solidFill>
                <a:latin typeface="Calibri" pitchFamily="34" charset="0"/>
                <a:ea typeface="Calibri" pitchFamily="34" charset="-122"/>
                <a:cs typeface="Calibri" pitchFamily="34" charset="-120"/>
              </a:rPr>
              <a:t>2</a:t>
            </a:r>
            <a:endParaRPr lang="en-US" sz="1500" dirty="0"/>
          </a:p>
        </p:txBody>
      </p:sp>
      <p:sp>
        <p:nvSpPr>
          <p:cNvPr id="13" name="Shape 11"/>
          <p:cNvSpPr/>
          <p:nvPr/>
        </p:nvSpPr>
        <p:spPr>
          <a:xfrm>
            <a:off x="3767328" y="1188720"/>
            <a:ext cx="859536" cy="0"/>
          </a:xfrm>
          <a:prstGeom prst="line">
            <a:avLst/>
          </a:prstGeom>
          <a:noFill/>
          <a:ln w="19050">
            <a:solidFill>
              <a:srgbClr val="00BFA5"/>
            </a:solidFill>
            <a:prstDash val="dash"/>
          </a:ln>
        </p:spPr>
      </p:sp>
      <p:sp>
        <p:nvSpPr>
          <p:cNvPr id="14" name="Shape 12"/>
          <p:cNvSpPr/>
          <p:nvPr/>
        </p:nvSpPr>
        <p:spPr>
          <a:xfrm>
            <a:off x="2450592" y="1664208"/>
            <a:ext cx="1993392" cy="960120"/>
          </a:xfrm>
          <a:prstGeom prst="roundRect">
            <a:avLst>
              <a:gd name="adj" fmla="val 9524"/>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sp>
        <p:nvSpPr>
          <p:cNvPr id="15" name="Text 13"/>
          <p:cNvSpPr/>
          <p:nvPr/>
        </p:nvSpPr>
        <p:spPr>
          <a:xfrm>
            <a:off x="2450592" y="1664208"/>
            <a:ext cx="1993392" cy="384048"/>
          </a:xfrm>
          <a:prstGeom prst="rect">
            <a:avLst/>
          </a:prstGeom>
          <a:noFill/>
          <a:ln/>
        </p:spPr>
        <p:txBody>
          <a:bodyPr wrap="square" lIns="0" tIns="0" rIns="0" bIns="0" rtlCol="0" anchor="ctr"/>
          <a:lstStyle/>
          <a:p>
            <a:pPr algn="ctr" indent="0" marL="0">
              <a:buNone/>
            </a:pPr>
            <a:r>
              <a:rPr lang="en-US" sz="1100" b="1" dirty="0">
                <a:solidFill>
                  <a:srgbClr val="00BFA5"/>
                </a:solidFill>
                <a:latin typeface="Calibri" pitchFamily="34" charset="0"/>
                <a:ea typeface="Calibri" pitchFamily="34" charset="-122"/>
                <a:cs typeface="Calibri" pitchFamily="34" charset="-120"/>
              </a:rPr>
              <a:t>Phase 2</a:t>
            </a:r>
            <a:endParaRPr lang="en-US" sz="1100" dirty="0"/>
          </a:p>
          <a:p>
            <a:pPr algn="ctr" indent="0" marL="0">
              <a:buNone/>
            </a:pPr>
            <a:r>
              <a:rPr lang="en-US" sz="1100" b="1" dirty="0">
                <a:solidFill>
                  <a:srgbClr val="00BFA5"/>
                </a:solidFill>
                <a:latin typeface="Calibri" pitchFamily="34" charset="0"/>
                <a:ea typeface="Calibri" pitchFamily="34" charset="-122"/>
                <a:cs typeface="Calibri" pitchFamily="34" charset="-120"/>
              </a:rPr>
              <a:t>3 Months</a:t>
            </a:r>
            <a:endParaRPr lang="en-US" sz="1100" dirty="0"/>
          </a:p>
        </p:txBody>
      </p:sp>
      <p:sp>
        <p:nvSpPr>
          <p:cNvPr id="16" name="Text 14"/>
          <p:cNvSpPr/>
          <p:nvPr/>
        </p:nvSpPr>
        <p:spPr>
          <a:xfrm>
            <a:off x="2560320" y="2048256"/>
            <a:ext cx="1773936" cy="548640"/>
          </a:xfrm>
          <a:prstGeom prst="rect">
            <a:avLst/>
          </a:prstGeom>
          <a:noFill/>
          <a:ln/>
        </p:spPr>
        <p:txBody>
          <a:bodyPr wrap="square" lIns="0" tIns="0" rIns="0" bIns="0" rtlCol="0" anchor="ctr"/>
          <a:lstStyle/>
          <a:p>
            <a:pPr indent="0" marL="0">
              <a:buNone/>
            </a:pPr>
            <a:r>
              <a:rPr lang="en-US" sz="950" dirty="0">
                <a:solidFill>
                  <a:srgbClr val="555555"/>
                </a:solidFill>
                <a:latin typeface="Calibri" pitchFamily="34" charset="0"/>
                <a:ea typeface="Calibri" pitchFamily="34" charset="-122"/>
                <a:cs typeface="Calibri" pitchFamily="34" charset="-120"/>
              </a:rPr>
              <a:t>AI Stalking Detection · Audio Distress Detection · Evidence Vault</a:t>
            </a:r>
            <a:endParaRPr lang="en-US" sz="950" dirty="0"/>
          </a:p>
        </p:txBody>
      </p:sp>
      <p:sp>
        <p:nvSpPr>
          <p:cNvPr id="17" name="Shape 15"/>
          <p:cNvSpPr/>
          <p:nvPr/>
        </p:nvSpPr>
        <p:spPr>
          <a:xfrm>
            <a:off x="5303520" y="868680"/>
            <a:ext cx="640080" cy="640080"/>
          </a:xfrm>
          <a:prstGeom prst="ellipse">
            <a:avLst/>
          </a:prstGeom>
          <a:solidFill>
            <a:srgbClr val="FFB800"/>
          </a:solidFill>
          <a:ln w="12700">
            <a:solidFill>
              <a:srgbClr val="FFB800"/>
            </a:solidFill>
            <a:prstDash val="solid"/>
          </a:ln>
          <a:effectLst>
            <a:outerShdw sx="100000" sy="100000" kx="0" ky="0" algn="bl" rotWithShape="0" blurRad="127000" dist="38100" dir="2700000">
              <a:srgbClr val="000000">
                <a:alpha val="25000"/>
              </a:srgbClr>
            </a:outerShdw>
          </a:effectLst>
        </p:spPr>
      </p:sp>
      <p:sp>
        <p:nvSpPr>
          <p:cNvPr id="18" name="Text 16"/>
          <p:cNvSpPr/>
          <p:nvPr/>
        </p:nvSpPr>
        <p:spPr>
          <a:xfrm>
            <a:off x="5303520" y="868680"/>
            <a:ext cx="640080" cy="640080"/>
          </a:xfrm>
          <a:prstGeom prst="rect">
            <a:avLst/>
          </a:prstGeom>
          <a:noFill/>
          <a:ln/>
        </p:spPr>
        <p:txBody>
          <a:bodyPr wrap="square" lIns="0" tIns="0" rIns="0" bIns="0" rtlCol="0" anchor="ctr"/>
          <a:lstStyle/>
          <a:p>
            <a:pPr algn="ctr" indent="0" marL="0">
              <a:buNone/>
            </a:pPr>
            <a:r>
              <a:rPr lang="en-US" sz="1500" b="1" dirty="0">
                <a:solidFill>
                  <a:srgbClr val="0A2342"/>
                </a:solidFill>
                <a:latin typeface="Calibri" pitchFamily="34" charset="0"/>
                <a:ea typeface="Calibri" pitchFamily="34" charset="-122"/>
                <a:cs typeface="Calibri" pitchFamily="34" charset="-120"/>
              </a:rPr>
              <a:t>3</a:t>
            </a:r>
            <a:endParaRPr lang="en-US" sz="1500" dirty="0"/>
          </a:p>
        </p:txBody>
      </p:sp>
      <p:sp>
        <p:nvSpPr>
          <p:cNvPr id="19" name="Shape 17"/>
          <p:cNvSpPr/>
          <p:nvPr/>
        </p:nvSpPr>
        <p:spPr>
          <a:xfrm>
            <a:off x="5943600" y="1188720"/>
            <a:ext cx="859536" cy="0"/>
          </a:xfrm>
          <a:prstGeom prst="line">
            <a:avLst/>
          </a:prstGeom>
          <a:noFill/>
          <a:ln w="19050">
            <a:solidFill>
              <a:srgbClr val="FFB800"/>
            </a:solidFill>
            <a:prstDash val="dash"/>
          </a:ln>
        </p:spPr>
      </p:sp>
      <p:sp>
        <p:nvSpPr>
          <p:cNvPr id="20" name="Shape 18"/>
          <p:cNvSpPr/>
          <p:nvPr/>
        </p:nvSpPr>
        <p:spPr>
          <a:xfrm>
            <a:off x="4626864" y="1664208"/>
            <a:ext cx="1993392" cy="960120"/>
          </a:xfrm>
          <a:prstGeom prst="roundRect">
            <a:avLst>
              <a:gd name="adj" fmla="val 9524"/>
            </a:avLst>
          </a:prstGeom>
          <a:solidFill>
            <a:srgbClr val="F5F7FA"/>
          </a:solidFill>
          <a:ln w="15240">
            <a:solidFill>
              <a:srgbClr val="FFB800"/>
            </a:solidFill>
            <a:prstDash val="solid"/>
          </a:ln>
          <a:effectLst>
            <a:outerShdw sx="100000" sy="100000" kx="0" ky="0" algn="bl" rotWithShape="0" blurRad="127000" dist="38100" dir="2700000">
              <a:srgbClr val="000000">
                <a:alpha val="25000"/>
              </a:srgbClr>
            </a:outerShdw>
          </a:effectLst>
        </p:spPr>
      </p:sp>
      <p:sp>
        <p:nvSpPr>
          <p:cNvPr id="21" name="Text 19"/>
          <p:cNvSpPr/>
          <p:nvPr/>
        </p:nvSpPr>
        <p:spPr>
          <a:xfrm>
            <a:off x="4626864" y="1664208"/>
            <a:ext cx="1993392" cy="384048"/>
          </a:xfrm>
          <a:prstGeom prst="rect">
            <a:avLst/>
          </a:prstGeom>
          <a:noFill/>
          <a:ln/>
        </p:spPr>
        <p:txBody>
          <a:bodyPr wrap="square" lIns="0" tIns="0" rIns="0" bIns="0" rtlCol="0" anchor="ctr"/>
          <a:lstStyle/>
          <a:p>
            <a:pPr algn="ctr" indent="0" marL="0">
              <a:buNone/>
            </a:pPr>
            <a:r>
              <a:rPr lang="en-US" sz="1100" b="1" dirty="0">
                <a:solidFill>
                  <a:srgbClr val="FFB800"/>
                </a:solidFill>
                <a:latin typeface="Calibri" pitchFamily="34" charset="0"/>
                <a:ea typeface="Calibri" pitchFamily="34" charset="-122"/>
                <a:cs typeface="Calibri" pitchFamily="34" charset="-120"/>
              </a:rPr>
              <a:t>Phase 3</a:t>
            </a:r>
            <a:endParaRPr lang="en-US" sz="1100" dirty="0"/>
          </a:p>
          <a:p>
            <a:pPr algn="ctr" indent="0" marL="0">
              <a:buNone/>
            </a:pPr>
            <a:r>
              <a:rPr lang="en-US" sz="1100" b="1" dirty="0">
                <a:solidFill>
                  <a:srgbClr val="FFB800"/>
                </a:solidFill>
                <a:latin typeface="Calibri" pitchFamily="34" charset="0"/>
                <a:ea typeface="Calibri" pitchFamily="34" charset="-122"/>
                <a:cs typeface="Calibri" pitchFamily="34" charset="-120"/>
              </a:rPr>
              <a:t>6 Months</a:t>
            </a:r>
            <a:endParaRPr lang="en-US" sz="1100" dirty="0"/>
          </a:p>
        </p:txBody>
      </p:sp>
      <p:sp>
        <p:nvSpPr>
          <p:cNvPr id="22" name="Text 20"/>
          <p:cNvSpPr/>
          <p:nvPr/>
        </p:nvSpPr>
        <p:spPr>
          <a:xfrm>
            <a:off x="4736592" y="2048256"/>
            <a:ext cx="1773936" cy="548640"/>
          </a:xfrm>
          <a:prstGeom prst="rect">
            <a:avLst/>
          </a:prstGeom>
          <a:noFill/>
          <a:ln/>
        </p:spPr>
        <p:txBody>
          <a:bodyPr wrap="square" lIns="0" tIns="0" rIns="0" bIns="0" rtlCol="0" anchor="ctr"/>
          <a:lstStyle/>
          <a:p>
            <a:pPr indent="0" marL="0">
              <a:buNone/>
            </a:pPr>
            <a:r>
              <a:rPr lang="en-US" sz="950" dirty="0">
                <a:solidFill>
                  <a:srgbClr val="555555"/>
                </a:solidFill>
                <a:latin typeface="Calibri" pitchFamily="34" charset="0"/>
                <a:ea typeface="Calibri" pitchFamily="34" charset="-122"/>
                <a:cs typeface="Calibri" pitchFamily="34" charset="-120"/>
              </a:rPr>
              <a:t>Safety Twin AI Companion · Trusted Human Shield Network</a:t>
            </a:r>
            <a:endParaRPr lang="en-US" sz="950" dirty="0"/>
          </a:p>
        </p:txBody>
      </p:sp>
      <p:sp>
        <p:nvSpPr>
          <p:cNvPr id="23" name="Shape 21"/>
          <p:cNvSpPr/>
          <p:nvPr/>
        </p:nvSpPr>
        <p:spPr>
          <a:xfrm>
            <a:off x="7479792" y="868680"/>
            <a:ext cx="640080" cy="640080"/>
          </a:xfrm>
          <a:prstGeom prst="ellipse">
            <a:avLst/>
          </a:prstGeom>
          <a:solidFill>
            <a:srgbClr val="00BFA5"/>
          </a:solidFill>
          <a:ln w="12700">
            <a:solidFill>
              <a:srgbClr val="00BFA5"/>
            </a:solidFill>
            <a:prstDash val="solid"/>
          </a:ln>
          <a:effectLst>
            <a:outerShdw sx="100000" sy="100000" kx="0" ky="0" algn="bl" rotWithShape="0" blurRad="127000" dist="38100" dir="2700000">
              <a:srgbClr val="000000">
                <a:alpha val="25000"/>
              </a:srgbClr>
            </a:outerShdw>
          </a:effectLst>
        </p:spPr>
      </p:sp>
      <p:sp>
        <p:nvSpPr>
          <p:cNvPr id="24" name="Text 22"/>
          <p:cNvSpPr/>
          <p:nvPr/>
        </p:nvSpPr>
        <p:spPr>
          <a:xfrm>
            <a:off x="7479792" y="868680"/>
            <a:ext cx="640080" cy="640080"/>
          </a:xfrm>
          <a:prstGeom prst="rect">
            <a:avLst/>
          </a:prstGeom>
          <a:noFill/>
          <a:ln/>
        </p:spPr>
        <p:txBody>
          <a:bodyPr wrap="square" lIns="0" tIns="0" rIns="0" bIns="0" rtlCol="0" anchor="ctr"/>
          <a:lstStyle/>
          <a:p>
            <a:pPr algn="ctr" indent="0" marL="0">
              <a:buNone/>
            </a:pPr>
            <a:r>
              <a:rPr lang="en-US" sz="1500" b="1" dirty="0">
                <a:solidFill>
                  <a:srgbClr val="0A2342"/>
                </a:solidFill>
                <a:latin typeface="Calibri" pitchFamily="34" charset="0"/>
                <a:ea typeface="Calibri" pitchFamily="34" charset="-122"/>
                <a:cs typeface="Calibri" pitchFamily="34" charset="-120"/>
              </a:rPr>
              <a:t>4</a:t>
            </a:r>
            <a:endParaRPr lang="en-US" sz="1500" dirty="0"/>
          </a:p>
        </p:txBody>
      </p:sp>
      <p:sp>
        <p:nvSpPr>
          <p:cNvPr id="25" name="Shape 23"/>
          <p:cNvSpPr/>
          <p:nvPr/>
        </p:nvSpPr>
        <p:spPr>
          <a:xfrm>
            <a:off x="6803136" y="1664208"/>
            <a:ext cx="1993392" cy="960120"/>
          </a:xfrm>
          <a:prstGeom prst="roundRect">
            <a:avLst>
              <a:gd name="adj" fmla="val 9524"/>
            </a:avLst>
          </a:prstGeom>
          <a:solidFill>
            <a:srgbClr val="F5F7FA"/>
          </a:solidFill>
          <a:ln w="15240">
            <a:solidFill>
              <a:srgbClr val="00BFA5"/>
            </a:solidFill>
            <a:prstDash val="solid"/>
          </a:ln>
          <a:effectLst>
            <a:outerShdw sx="100000" sy="100000" kx="0" ky="0" algn="bl" rotWithShape="0" blurRad="127000" dist="38100" dir="2700000">
              <a:srgbClr val="000000">
                <a:alpha val="25000"/>
              </a:srgbClr>
            </a:outerShdw>
          </a:effectLst>
        </p:spPr>
      </p:sp>
      <p:sp>
        <p:nvSpPr>
          <p:cNvPr id="26" name="Text 24"/>
          <p:cNvSpPr/>
          <p:nvPr/>
        </p:nvSpPr>
        <p:spPr>
          <a:xfrm>
            <a:off x="6803136" y="1664208"/>
            <a:ext cx="1993392" cy="384048"/>
          </a:xfrm>
          <a:prstGeom prst="rect">
            <a:avLst/>
          </a:prstGeom>
          <a:noFill/>
          <a:ln/>
        </p:spPr>
        <p:txBody>
          <a:bodyPr wrap="square" lIns="0" tIns="0" rIns="0" bIns="0" rtlCol="0" anchor="ctr"/>
          <a:lstStyle/>
          <a:p>
            <a:pPr algn="ctr" indent="0" marL="0">
              <a:buNone/>
            </a:pPr>
            <a:r>
              <a:rPr lang="en-US" sz="1100" b="1" dirty="0">
                <a:solidFill>
                  <a:srgbClr val="00BFA5"/>
                </a:solidFill>
                <a:latin typeface="Calibri" pitchFamily="34" charset="0"/>
                <a:ea typeface="Calibri" pitchFamily="34" charset="-122"/>
                <a:cs typeface="Calibri" pitchFamily="34" charset="-120"/>
              </a:rPr>
              <a:t>Phase 4</a:t>
            </a:r>
            <a:endParaRPr lang="en-US" sz="1100" dirty="0"/>
          </a:p>
          <a:p>
            <a:pPr algn="ctr" indent="0" marL="0">
              <a:buNone/>
            </a:pPr>
            <a:r>
              <a:rPr lang="en-US" sz="1100" b="1" dirty="0">
                <a:solidFill>
                  <a:srgbClr val="00BFA5"/>
                </a:solidFill>
                <a:latin typeface="Calibri" pitchFamily="34" charset="0"/>
                <a:ea typeface="Calibri" pitchFamily="34" charset="-122"/>
                <a:cs typeface="Calibri" pitchFamily="34" charset="-120"/>
              </a:rPr>
              <a:t>12 Months</a:t>
            </a:r>
            <a:endParaRPr lang="en-US" sz="1100" dirty="0"/>
          </a:p>
        </p:txBody>
      </p:sp>
      <p:sp>
        <p:nvSpPr>
          <p:cNvPr id="27" name="Text 25"/>
          <p:cNvSpPr/>
          <p:nvPr/>
        </p:nvSpPr>
        <p:spPr>
          <a:xfrm>
            <a:off x="6912864" y="2048256"/>
            <a:ext cx="1773936" cy="548640"/>
          </a:xfrm>
          <a:prstGeom prst="rect">
            <a:avLst/>
          </a:prstGeom>
          <a:noFill/>
          <a:ln/>
        </p:spPr>
        <p:txBody>
          <a:bodyPr wrap="square" lIns="0" tIns="0" rIns="0" bIns="0" rtlCol="0" anchor="ctr"/>
          <a:lstStyle/>
          <a:p>
            <a:pPr indent="0" marL="0">
              <a:buNone/>
            </a:pPr>
            <a:r>
              <a:rPr lang="en-US" sz="950" dirty="0">
                <a:solidFill>
                  <a:srgbClr val="555555"/>
                </a:solidFill>
                <a:latin typeface="Calibri" pitchFamily="34" charset="0"/>
                <a:ea typeface="Calibri" pitchFamily="34" charset="-122"/>
                <a:cs typeface="Calibri" pitchFamily="34" charset="-120"/>
              </a:rPr>
              <a:t>Offline Emergency Mesh Network · National City-Wide Integration</a:t>
            </a:r>
            <a:endParaRPr lang="en-US" sz="950" dirty="0"/>
          </a:p>
        </p:txBody>
      </p:sp>
      <p:sp>
        <p:nvSpPr>
          <p:cNvPr id="28" name="Shape 26"/>
          <p:cNvSpPr/>
          <p:nvPr/>
        </p:nvSpPr>
        <p:spPr>
          <a:xfrm>
            <a:off x="457200" y="2816352"/>
            <a:ext cx="8229600" cy="713232"/>
          </a:xfrm>
          <a:prstGeom prst="roundRect">
            <a:avLst>
              <a:gd name="adj" fmla="val 15385"/>
            </a:avLst>
          </a:prstGeom>
          <a:solidFill>
            <a:srgbClr val="0E3A5C">
              <a:alpha val="70000"/>
            </a:srgbClr>
          </a:solidFill>
          <a:ln w="19050">
            <a:solidFill>
              <a:srgbClr val="00BFA5"/>
            </a:solidFill>
            <a:prstDash val="solid"/>
          </a:ln>
        </p:spPr>
      </p:sp>
      <p:sp>
        <p:nvSpPr>
          <p:cNvPr id="29" name="Text 27"/>
          <p:cNvSpPr/>
          <p:nvPr/>
        </p:nvSpPr>
        <p:spPr>
          <a:xfrm>
            <a:off x="548640" y="2834640"/>
            <a:ext cx="8046720" cy="676656"/>
          </a:xfrm>
          <a:prstGeom prst="rect">
            <a:avLst/>
          </a:prstGeom>
          <a:noFill/>
          <a:ln/>
        </p:spPr>
        <p:txBody>
          <a:bodyPr wrap="square" lIns="0" tIns="0" rIns="0" bIns="0" rtlCol="0" anchor="ctr"/>
          <a:lstStyle/>
          <a:p>
            <a:pPr algn="ctr" indent="0" marL="0">
              <a:buNone/>
            </a:pPr>
            <a:r>
              <a:rPr lang="en-US" sz="1400" b="1" i="1" dirty="0">
                <a:solidFill>
                  <a:srgbClr val="0A2342"/>
                </a:solidFill>
                <a:latin typeface="Cambria" pitchFamily="34" charset="0"/>
                <a:ea typeface="Cambria" pitchFamily="34" charset="-122"/>
                <a:cs typeface="Cambria" pitchFamily="34" charset="-120"/>
              </a:rPr>
              <a:t>"Travix AI transforms mobility from ride booking into journey protection."</a:t>
            </a:r>
            <a:endParaRPr lang="en-US" sz="1400" dirty="0"/>
          </a:p>
        </p:txBody>
      </p:sp>
      <p:sp>
        <p:nvSpPr>
          <p:cNvPr id="30" name="Shape 28"/>
          <p:cNvSpPr/>
          <p:nvPr/>
        </p:nvSpPr>
        <p:spPr>
          <a:xfrm>
            <a:off x="457200" y="3657600"/>
            <a:ext cx="8229600" cy="1188720"/>
          </a:xfrm>
          <a:prstGeom prst="roundRect">
            <a:avLst>
              <a:gd name="adj" fmla="val 9231"/>
            </a:avLst>
          </a:prstGeom>
          <a:solidFill>
            <a:srgbClr val="F5F7FA"/>
          </a:solidFill>
          <a:ln w="19050">
            <a:solidFill>
              <a:srgbClr val="00D4A0"/>
            </a:solidFill>
            <a:prstDash val="solid"/>
          </a:ln>
          <a:effectLst>
            <a:outerShdw sx="100000" sy="100000" kx="0" ky="0" algn="bl" rotWithShape="0" blurRad="127000" dist="38100" dir="2700000">
              <a:srgbClr val="000000">
                <a:alpha val="25000"/>
              </a:srgbClr>
            </a:outerShdw>
          </a:effectLst>
        </p:spPr>
      </p:sp>
      <p:pic>
        <p:nvPicPr>
          <p:cNvPr id="31" name="Image 0" descr="preencoded.png"/>
          <p:cNvPicPr>
            <a:picLocks noChangeAspect="1"/>
          </p:cNvPicPr>
          <p:nvPr/>
        </p:nvPicPr>
        <p:blipFill>
          <a:blip r:embed="rId1"/>
          <a:stretch>
            <a:fillRect/>
          </a:stretch>
        </p:blipFill>
        <p:spPr>
          <a:xfrm>
            <a:off x="777240" y="3840480"/>
            <a:ext cx="594360" cy="594360"/>
          </a:xfrm>
          <a:prstGeom prst="rect">
            <a:avLst/>
          </a:prstGeom>
        </p:spPr>
      </p:pic>
      <p:sp>
        <p:nvSpPr>
          <p:cNvPr id="32" name="Text 29"/>
          <p:cNvSpPr/>
          <p:nvPr/>
        </p:nvSpPr>
        <p:spPr>
          <a:xfrm>
            <a:off x="1508760" y="3703320"/>
            <a:ext cx="6858000" cy="365760"/>
          </a:xfrm>
          <a:prstGeom prst="rect">
            <a:avLst/>
          </a:prstGeom>
          <a:noFill/>
          <a:ln/>
        </p:spPr>
        <p:txBody>
          <a:bodyPr wrap="square" lIns="0" tIns="0" rIns="0" bIns="0" rtlCol="0" anchor="ctr"/>
          <a:lstStyle/>
          <a:p>
            <a:pPr indent="0" marL="0">
              <a:buNone/>
            </a:pPr>
            <a:r>
              <a:rPr lang="en-US" sz="1300" b="1" dirty="0">
                <a:solidFill>
                  <a:srgbClr val="00D4A0"/>
                </a:solidFill>
                <a:latin typeface="Calibri" pitchFamily="34" charset="0"/>
                <a:ea typeface="Calibri" pitchFamily="34" charset="-122"/>
                <a:cs typeface="Calibri" pitchFamily="34" charset="-120"/>
              </a:rPr>
              <a:t>Our Vision</a:t>
            </a:r>
            <a:endParaRPr lang="en-US" sz="1300" dirty="0"/>
          </a:p>
        </p:txBody>
      </p:sp>
      <p:sp>
        <p:nvSpPr>
          <p:cNvPr id="33" name="Text 30"/>
          <p:cNvSpPr/>
          <p:nvPr/>
        </p:nvSpPr>
        <p:spPr>
          <a:xfrm>
            <a:off x="1508760" y="4041648"/>
            <a:ext cx="6995160" cy="749808"/>
          </a:xfrm>
          <a:prstGeom prst="rect">
            <a:avLst/>
          </a:prstGeom>
          <a:noFill/>
          <a:ln/>
        </p:spPr>
        <p:txBody>
          <a:bodyPr wrap="square" lIns="0" tIns="0" rIns="0" bIns="0" rtlCol="0" anchor="ctr"/>
          <a:lstStyle/>
          <a:p>
            <a:pPr indent="0" marL="0">
              <a:buNone/>
            </a:pPr>
            <a:r>
              <a:rPr lang="en-US" sz="1150" dirty="0">
                <a:solidFill>
                  <a:srgbClr val="555555"/>
                </a:solidFill>
                <a:latin typeface="Calibri" pitchFamily="34" charset="0"/>
                <a:ea typeface="Calibri" pitchFamily="34" charset="-122"/>
                <a:cs typeface="Calibri" pitchFamily="34" charset="-120"/>
              </a:rPr>
              <a:t>To build India's first Predictive Mobility Intelligence Platform that enables every commuter to travel with confidence through trust, safety, transparency, and intelligent decision-making.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Meet Team SafeHer">
    <p:bg>
      <p:bgPr>
        <a:solidFill>
          <a:srgbClr val="FFFFFF"/>
        </a:solidFill>
      </p:bgPr>
    </p:bg>
    <p:spTree>
      <p:nvGrpSpPr>
        <p:cNvPr id="1" name=""/>
        <p:cNvGrpSpPr/>
        <p:nvPr/>
      </p:nvGrpSpPr>
      <p:grpSpPr>
        <a:xfrm>
          <a:off x="0" y="0"/>
          <a:ext cx="0" cy="0"/>
          <a:chOff x="0" y="0"/>
          <a:chExt cx="0" cy="0"/>
        </a:xfrm>
      </p:grpSpPr>
      <p:sp>
        <p:nvSpPr>
          <p:cNvPr id="2" name="TopBar"/>
          <p:cNvSpPr/>
          <p:nvPr/>
        </p:nvSpPr>
        <p:spPr>
          <a:xfrm>
            <a:off x="0" y="0"/>
            <a:ext cx="9144000" cy="731520"/>
          </a:xfrm>
          <a:prstGeom prst="rect">
            <a:avLst/>
          </a:prstGeom>
          <a:solidFill>
            <a:srgbClr val="0A2342"/>
          </a:solidFill>
          <a:ln>
            <a:noFill/>
          </a:ln>
        </p:spPr>
        <p:txBody>
          <a:bodyPr wrap="square" lIns="457200" tIns="0" rIns="0" bIns="0" rtlCol="0" anchor="ctr"/>
          <a:lstStyle/>
          <a:p>
            <a:pPr algn="ctr" indent="0" marL="0">
              <a:buNone/>
            </a:pPr>
            <a:r>
              <a:rPr lang="en-US" sz="2400" b="1" dirty="0">
                <a:solidFill>
                  <a:srgbClr val="FFFFFF"/>
                </a:solidFill>
                <a:latin typeface="Calibri"/>
              </a:rPr>
              <a:t>Meet Team SafeHer</a:t>
            </a:r>
            <a:r>
              <a:rPr lang="en-US" sz="1400" dirty="0">
                <a:solidFill>
                  <a:srgbClr val="00BFA5"/>
                </a:solidFill>
                <a:latin typeface="Calibri"/>
              </a:rPr>
              <a:t xml:space="preserve">   |   Travix AI</a:t>
            </a:r>
          </a:p>
        </p:txBody>
      </p:sp>
      <p:sp>
        <p:nvSpPr>
          <p:cNvPr id="3" name="BottomBar"/>
          <p:cNvSpPr/>
          <p:nvPr/>
        </p:nvSpPr>
        <p:spPr>
          <a:xfrm>
            <a:off x="0" y="5029200"/>
            <a:ext cx="9144000" cy="114300"/>
          </a:xfrm>
          <a:prstGeom prst="rect">
            <a:avLst/>
          </a:prstGeom>
          <a:solidFill>
            <a:srgbClr val="00BFA5"/>
          </a:solidFill>
          <a:ln>
            <a:noFill/>
          </a:ln>
        </p:spPr>
      </p:sp>
      <p:sp>
        <p:nvSpPr>
          <p:cNvPr id="10" name="Card1"/>
          <p:cNvSpPr/>
          <p:nvPr/>
        </p:nvSpPr>
        <p:spPr>
          <a:xfrm>
            <a:off x="228600" y="822960"/>
            <a:ext cx="2057400" cy="3886200"/>
          </a:xfrm>
          <a:prstGeom prst="roundRect">
            <a:avLst>
              <a:gd name="adj" fmla="val 4000"/>
            </a:avLst>
          </a:prstGeom>
          <a:solidFill>
            <a:srgbClr val="F5F7FA"/>
          </a:solidFill>
          <a:ln w="9525">
            <a:solidFill>
              <a:srgbClr val="0A2342"/>
            </a:solidFill>
          </a:ln>
        </p:spPr>
      </p:sp>
      <p:sp>
        <p:nvSpPr>
          <p:cNvPr id="11" name="Card1Avatar"/>
          <p:cNvSpPr/>
          <p:nvPr/>
        </p:nvSpPr>
        <p:spPr>
          <a:xfrm>
            <a:off x="685800" y="959040"/>
            <a:ext cx="1143000" cy="1143000"/>
          </a:xfrm>
          <a:prstGeom prst="ellipse">
            <a:avLst/>
          </a:prstGeom>
          <a:solidFill>
            <a:srgbClr val="0A2342"/>
          </a:solidFill>
          <a:ln>
            <a:noFill/>
          </a:ln>
        </p:spPr>
        <p:txBody>
          <a:bodyPr wrap="square" lIns="0" tIns="0" rIns="0" bIns="0" rtlCol="0" anchor="ctr"/>
          <a:lstStyle/>
          <a:p>
            <a:pPr algn="ctr">
              <a:buNone/>
            </a:pPr>
            <a:r>
              <a:rPr lang="en-US" sz="3600" b="1" dirty="0">
                <a:solidFill>
                  <a:srgbClr val="FFFFFF"/>
                </a:solidFill>
                <a:latin typeface="Calibri"/>
              </a:rPr>
              <a:t>K</a:t>
            </a:r>
          </a:p>
        </p:txBody>
      </p:sp>
      <p:sp>
        <p:nvSpPr>
          <p:cNvPr id="12" name="Card1Text"/>
          <p:cNvSpPr/>
          <p:nvPr/>
        </p:nvSpPr>
        <p:spPr>
          <a:xfrm>
            <a:off x="274320" y="2194560"/>
            <a:ext cx="1966080" cy="2514600"/>
          </a:xfrm>
          <a:prstGeom prst="rect">
            <a:avLst/>
          </a:prstGeom>
          <a:noFill/>
          <a:ln>
            <a:noFill/>
          </a:ln>
        </p:spPr>
        <p:txBody>
          <a:bodyPr wrap="square" lIns="91440" tIns="91440" rIns="91440" bIns="91440" rtlCol="0" anchor="top"/>
          <a:lstStyle/>
          <a:p>
            <a:pPr algn="ctr">
              <a:buNone/>
            </a:pPr>
            <a:r>
              <a:rPr lang="en-US" sz="1100" b="1" dirty="0">
                <a:solidFill>
                  <a:srgbClr val="0A2342"/>
                </a:solidFill>
                <a:latin typeface="Calibri"/>
              </a:rPr>
              <a:t>Kesani Sree Sai</a:t>
            </a:r>
          </a:p>
          <a:p>
            <a:pPr algn="ctr">
              <a:buNone/>
            </a:pPr>
            <a:r>
              <a:rPr lang="en-US" sz="1100" b="1" dirty="0">
                <a:solidFill>
                  <a:srgbClr val="0A2342"/>
                </a:solidFill>
                <a:latin typeface="Calibri"/>
              </a:rPr>
              <a:t>Charan Teja</a:t>
            </a:r>
          </a:p>
          <a:p>
            <a:pPr algn="ctr">
              <a:buNone/>
            </a:pPr>
            <a:r>
              <a:rPr lang="en-US" sz="900" i="1" dirty="0">
                <a:solidFill>
                  <a:srgbClr val="00BFA5"/>
                </a:solidFill>
                <a:latin typeface="Calibri"/>
              </a:rPr>
              <a:t>Team Leader &amp; Full Stack Dev</a:t>
            </a:r>
          </a:p>
          <a:p>
            <a:pPr algn="ctr">
              <a:buNone/>
            </a:pPr>
            <a:endParaRPr lang="en-US" sz="800"/>
          </a:p>
          <a:p>
            <a:pPr algn="ctr">
              <a:buNone/>
            </a:pPr>
            <a:r>
              <a:rPr lang="en-US" sz="800" dirty="0">
                <a:solidFill>
                  <a:srgbClr val="555555"/>
                </a:solidFill>
                <a:latin typeface="Calibri"/>
              </a:rPr>
              <a:t>VIT Vellore</a:t>
            </a:r>
          </a:p>
          <a:p>
            <a:pPr algn="ctr">
              <a:buNone/>
            </a:pPr>
            <a:endParaRPr lang="en-US" sz="800"/>
          </a:p>
          <a:p>
            <a:pPr algn="l">
              <a:buChar char="✓"/>
            </a:pPr>
            <a:r>
              <a:rPr lang="en-US" sz="900" dirty="0">
                <a:solidFill>
                  <a:srgbClr val="222222"/>
                </a:solidFill>
                <a:latin typeface="Calibri"/>
              </a:rPr>
              <a:t>System Architecture</a:t>
            </a:r>
          </a:p>
          <a:p>
            <a:pPr algn="l">
              <a:buChar char="✓"/>
            </a:pPr>
            <a:r>
              <a:rPr lang="en-US" sz="900" dirty="0">
                <a:solidFill>
                  <a:srgbClr val="222222"/>
                </a:solidFill>
                <a:latin typeface="Calibri"/>
              </a:rPr>
              <a:t>Full Stack Development</a:t>
            </a:r>
          </a:p>
          <a:p>
            <a:pPr algn="l">
              <a:buChar char="✓"/>
            </a:pPr>
            <a:r>
              <a:rPr lang="en-US" sz="900" dirty="0">
                <a:solidFill>
                  <a:srgbClr val="222222"/>
                </a:solidFill>
                <a:latin typeface="Calibri"/>
              </a:rPr>
              <a:t>Project Leadership</a:t>
            </a:r>
          </a:p>
        </p:txBody>
      </p:sp>
      <p:sp>
        <p:nvSpPr>
          <p:cNvPr id="20" name="Card2"/>
          <p:cNvSpPr/>
          <p:nvPr/>
        </p:nvSpPr>
        <p:spPr>
          <a:xfrm>
            <a:off x="2514600" y="822960"/>
            <a:ext cx="2057400" cy="3886200"/>
          </a:xfrm>
          <a:prstGeom prst="roundRect">
            <a:avLst>
              <a:gd name="adj" fmla="val 4000"/>
            </a:avLst>
          </a:prstGeom>
          <a:solidFill>
            <a:srgbClr val="F5F7FA"/>
          </a:solidFill>
          <a:ln w="9525">
            <a:solidFill>
              <a:srgbClr val="00BFA5"/>
            </a:solidFill>
          </a:ln>
        </p:spPr>
      </p:sp>
      <p:sp>
        <p:nvSpPr>
          <p:cNvPr id="21" name="Card2Avatar"/>
          <p:cNvSpPr/>
          <p:nvPr/>
        </p:nvSpPr>
        <p:spPr>
          <a:xfrm>
            <a:off x="2971800" y="959040"/>
            <a:ext cx="1143000" cy="1143000"/>
          </a:xfrm>
          <a:prstGeom prst="ellipse">
            <a:avLst/>
          </a:prstGeom>
          <a:solidFill>
            <a:srgbClr val="00BFA5"/>
          </a:solidFill>
          <a:ln>
            <a:noFill/>
          </a:ln>
        </p:spPr>
        <p:txBody>
          <a:bodyPr wrap="square" lIns="0" tIns="0" rIns="0" bIns="0" rtlCol="0" anchor="ctr"/>
          <a:lstStyle/>
          <a:p>
            <a:pPr algn="ctr">
              <a:buNone/>
            </a:pPr>
            <a:r>
              <a:rPr lang="en-US" sz="3600" b="1" dirty="0">
                <a:solidFill>
                  <a:srgbClr val="FFFFFF"/>
                </a:solidFill>
                <a:latin typeface="Calibri"/>
              </a:rPr>
              <a:t>J</a:t>
            </a:r>
          </a:p>
        </p:txBody>
      </p:sp>
      <p:sp>
        <p:nvSpPr>
          <p:cNvPr id="22" name="Card2Text"/>
          <p:cNvSpPr/>
          <p:nvPr/>
        </p:nvSpPr>
        <p:spPr>
          <a:xfrm>
            <a:off x="2560320" y="2194560"/>
            <a:ext cx="1966080" cy="2514600"/>
          </a:xfrm>
          <a:prstGeom prst="rect">
            <a:avLst/>
          </a:prstGeom>
          <a:noFill/>
          <a:ln>
            <a:noFill/>
          </a:ln>
        </p:spPr>
        <p:txBody>
          <a:bodyPr wrap="square" lIns="91440" tIns="91440" rIns="91440" bIns="91440" rtlCol="0" anchor="top"/>
          <a:lstStyle/>
          <a:p>
            <a:pPr algn="ctr">
              <a:buNone/>
            </a:pPr>
            <a:r>
              <a:rPr lang="en-US" sz="1100" b="1" dirty="0">
                <a:solidFill>
                  <a:srgbClr val="0A2342"/>
                </a:solidFill>
                <a:latin typeface="Calibri"/>
              </a:rPr>
              <a:t>Polisetty Jahnavi</a:t>
            </a:r>
          </a:p>
          <a:p>
            <a:pPr algn="ctr">
              <a:buNone/>
            </a:pPr>
            <a:r>
              <a:rPr lang="en-US" sz="900" i="1" dirty="0">
                <a:solidFill>
                  <a:srgbClr val="00BFA5"/>
                </a:solidFill>
                <a:latin typeface="Calibri"/>
              </a:rPr>
              <a:t>Frontend &amp; Maps Integration</a:t>
            </a:r>
          </a:p>
          <a:p>
            <a:pPr algn="ctr">
              <a:buNone/>
            </a:pPr>
            <a:endParaRPr lang="en-US" sz="800"/>
          </a:p>
          <a:p>
            <a:pPr algn="ctr">
              <a:buNone/>
            </a:pPr>
            <a:r>
              <a:rPr lang="en-US" sz="800" dirty="0">
                <a:solidFill>
                  <a:srgbClr val="555555"/>
                </a:solidFill>
                <a:latin typeface="Calibri"/>
              </a:rPr>
              <a:t>AITS Rajampet</a:t>
            </a:r>
          </a:p>
          <a:p>
            <a:pPr algn="ctr">
              <a:buNone/>
            </a:pPr>
            <a:endParaRPr lang="en-US" sz="800"/>
          </a:p>
          <a:p>
            <a:pPr algn="l">
              <a:buChar char="✓"/>
            </a:pPr>
            <a:r>
              <a:rPr lang="en-US" sz="900" dirty="0">
                <a:solidFill>
                  <a:srgbClr val="222222"/>
                </a:solidFill>
                <a:latin typeface="Calibri"/>
              </a:rPr>
              <a:t>UI/UX Design</a:t>
            </a:r>
          </a:p>
          <a:p>
            <a:pPr algn="l">
              <a:buChar char="✓"/>
            </a:pPr>
            <a:r>
              <a:rPr lang="en-US" sz="900" dirty="0">
                <a:solidFill>
                  <a:srgbClr val="222222"/>
                </a:solidFill>
                <a:latin typeface="Calibri"/>
              </a:rPr>
              <a:t>Frontend Development</a:t>
            </a:r>
          </a:p>
          <a:p>
            <a:pPr algn="l">
              <a:buChar char="✓"/>
            </a:pPr>
            <a:r>
              <a:rPr lang="en-US" sz="900" dirty="0">
                <a:solidFill>
                  <a:srgbClr val="222222"/>
                </a:solidFill>
                <a:latin typeface="Calibri"/>
              </a:rPr>
              <a:t>Mapping Features</a:t>
            </a:r>
          </a:p>
        </p:txBody>
      </p:sp>
      <p:sp>
        <p:nvSpPr>
          <p:cNvPr id="30" name="Card3"/>
          <p:cNvSpPr/>
          <p:nvPr/>
        </p:nvSpPr>
        <p:spPr>
          <a:xfrm>
            <a:off x="4800600" y="822960"/>
            <a:ext cx="2057400" cy="3886200"/>
          </a:xfrm>
          <a:prstGeom prst="roundRect">
            <a:avLst>
              <a:gd name="adj" fmla="val 4000"/>
            </a:avLst>
          </a:prstGeom>
          <a:solidFill>
            <a:srgbClr val="F5F7FA"/>
          </a:solidFill>
          <a:ln w="9525">
            <a:solidFill>
              <a:srgbClr val="FF8C42"/>
            </a:solidFill>
          </a:ln>
        </p:spPr>
      </p:sp>
      <p:sp>
        <p:nvSpPr>
          <p:cNvPr id="31" name="Card3Avatar"/>
          <p:cNvSpPr/>
          <p:nvPr/>
        </p:nvSpPr>
        <p:spPr>
          <a:xfrm>
            <a:off x="5257800" y="959040"/>
            <a:ext cx="1143000" cy="1143000"/>
          </a:xfrm>
          <a:prstGeom prst="ellipse">
            <a:avLst/>
          </a:prstGeom>
          <a:solidFill>
            <a:srgbClr val="FF8C42"/>
          </a:solidFill>
          <a:ln>
            <a:noFill/>
          </a:ln>
        </p:spPr>
        <p:txBody>
          <a:bodyPr wrap="square" lIns="0" tIns="0" rIns="0" bIns="0" rtlCol="0" anchor="ctr"/>
          <a:lstStyle/>
          <a:p>
            <a:pPr algn="ctr">
              <a:buNone/>
            </a:pPr>
            <a:r>
              <a:rPr lang="en-US" sz="3600" b="1" dirty="0">
                <a:solidFill>
                  <a:srgbClr val="FFFFFF"/>
                </a:solidFill>
                <a:latin typeface="Calibri"/>
              </a:rPr>
              <a:t>B</a:t>
            </a:r>
          </a:p>
        </p:txBody>
      </p:sp>
      <p:sp>
        <p:nvSpPr>
          <p:cNvPr id="32" name="Card3Text"/>
          <p:cNvSpPr/>
          <p:nvPr/>
        </p:nvSpPr>
        <p:spPr>
          <a:xfrm>
            <a:off x="4846320" y="2194560"/>
            <a:ext cx="1966080" cy="2514600"/>
          </a:xfrm>
          <a:prstGeom prst="rect">
            <a:avLst/>
          </a:prstGeom>
          <a:noFill/>
          <a:ln>
            <a:noFill/>
          </a:ln>
        </p:spPr>
        <p:txBody>
          <a:bodyPr wrap="square" lIns="91440" tIns="91440" rIns="91440" bIns="91440" rtlCol="0" anchor="top"/>
          <a:lstStyle/>
          <a:p>
            <a:pPr algn="ctr">
              <a:buNone/>
            </a:pPr>
            <a:r>
              <a:rPr lang="en-US" sz="1100" b="1" dirty="0">
                <a:solidFill>
                  <a:srgbClr val="0A2342"/>
                </a:solidFill>
                <a:latin typeface="Calibri"/>
              </a:rPr>
              <a:t>Basireddy Indrani</a:t>
            </a:r>
          </a:p>
          <a:p>
            <a:pPr algn="ctr">
              <a:buNone/>
            </a:pPr>
            <a:r>
              <a:rPr lang="en-US" sz="900" i="1" dirty="0">
                <a:solidFill>
                  <a:srgbClr val="FF8C42"/>
                </a:solidFill>
                <a:latin typeface="Calibri"/>
              </a:rPr>
              <a:t>Backend &amp; Firebase Integration</a:t>
            </a:r>
          </a:p>
          <a:p>
            <a:pPr algn="ctr">
              <a:buNone/>
            </a:pPr>
            <a:endParaRPr lang="en-US" sz="800"/>
          </a:p>
          <a:p>
            <a:pPr algn="ctr">
              <a:buNone/>
            </a:pPr>
            <a:r>
              <a:rPr lang="en-US" sz="800" dirty="0">
                <a:solidFill>
                  <a:srgbClr val="555555"/>
                </a:solidFill>
                <a:latin typeface="Calibri"/>
              </a:rPr>
              <a:t>AITS Rajampet</a:t>
            </a:r>
          </a:p>
          <a:p>
            <a:pPr algn="ctr">
              <a:buNone/>
            </a:pPr>
            <a:endParaRPr lang="en-US" sz="800"/>
          </a:p>
          <a:p>
            <a:pPr algn="l">
              <a:buChar char="✓"/>
            </a:pPr>
            <a:r>
              <a:rPr lang="en-US" sz="900" dirty="0">
                <a:solidFill>
                  <a:srgbClr val="222222"/>
                </a:solidFill>
                <a:latin typeface="Calibri"/>
              </a:rPr>
              <a:t>Database Design</a:t>
            </a:r>
          </a:p>
          <a:p>
            <a:pPr algn="l">
              <a:buChar char="✓"/>
            </a:pPr>
            <a:r>
              <a:rPr lang="en-US" sz="900" dirty="0">
                <a:solidFill>
                  <a:srgbClr val="222222"/>
                </a:solidFill>
                <a:latin typeface="Calibri"/>
              </a:rPr>
              <a:t>Authentication</a:t>
            </a:r>
          </a:p>
          <a:p>
            <a:pPr algn="l">
              <a:buChar char="✓"/>
            </a:pPr>
            <a:r>
              <a:rPr lang="en-US" sz="900" dirty="0">
                <a:solidFill>
                  <a:srgbClr val="222222"/>
                </a:solidFill>
                <a:latin typeface="Calibri"/>
              </a:rPr>
              <a:t>Real-Time Data Management</a:t>
            </a:r>
          </a:p>
        </p:txBody>
      </p:sp>
      <p:sp>
        <p:nvSpPr>
          <p:cNvPr id="40" name="Card4"/>
          <p:cNvSpPr/>
          <p:nvPr/>
        </p:nvSpPr>
        <p:spPr>
          <a:xfrm>
            <a:off x="7086600" y="822960"/>
            <a:ext cx="1828800" cy="3886200"/>
          </a:xfrm>
          <a:prstGeom prst="roundRect">
            <a:avLst>
              <a:gd name="adj" fmla="val 4000"/>
            </a:avLst>
          </a:prstGeom>
          <a:solidFill>
            <a:srgbClr val="F5F7FA"/>
          </a:solidFill>
          <a:ln w="9525">
            <a:solidFill>
              <a:srgbClr val="0A2342"/>
            </a:solidFill>
          </a:ln>
        </p:spPr>
      </p:sp>
      <p:sp>
        <p:nvSpPr>
          <p:cNvPr id="41" name="Card4Avatar"/>
          <p:cNvSpPr/>
          <p:nvPr/>
        </p:nvSpPr>
        <p:spPr>
          <a:xfrm>
            <a:off x="7486200" y="959040"/>
            <a:ext cx="1028700" cy="1028700"/>
          </a:xfrm>
          <a:prstGeom prst="ellipse">
            <a:avLst/>
          </a:prstGeom>
          <a:solidFill>
            <a:srgbClr val="0A2342"/>
          </a:solidFill>
          <a:ln>
            <a:noFill/>
          </a:ln>
        </p:spPr>
        <p:txBody>
          <a:bodyPr wrap="square" lIns="0" tIns="0" rIns="0" bIns="0" rtlCol="0" anchor="ctr"/>
          <a:lstStyle/>
          <a:p>
            <a:pPr algn="ctr">
              <a:buNone/>
            </a:pPr>
            <a:r>
              <a:rPr lang="en-US" sz="3200" b="1" dirty="0">
                <a:solidFill>
                  <a:srgbClr val="FFFFFF"/>
                </a:solidFill>
                <a:latin typeface="Calibri"/>
              </a:rPr>
              <a:t>M</a:t>
            </a:r>
          </a:p>
        </p:txBody>
      </p:sp>
      <p:sp>
        <p:nvSpPr>
          <p:cNvPr id="42" name="Card4Text"/>
          <p:cNvSpPr/>
          <p:nvPr/>
        </p:nvSpPr>
        <p:spPr>
          <a:xfrm>
            <a:off x="7086600" y="2100960"/>
            <a:ext cx="1828800" cy="2608200"/>
          </a:xfrm>
          <a:prstGeom prst="rect">
            <a:avLst/>
          </a:prstGeom>
          <a:noFill/>
          <a:ln>
            <a:noFill/>
          </a:ln>
        </p:spPr>
        <p:txBody>
          <a:bodyPr wrap="square" lIns="91440" tIns="91440" rIns="91440" bIns="91440" rtlCol="0" anchor="top"/>
          <a:lstStyle/>
          <a:p>
            <a:pPr algn="ctr">
              <a:buNone/>
            </a:pPr>
            <a:r>
              <a:rPr lang="en-US" sz="1000" b="1" dirty="0">
                <a:solidFill>
                  <a:srgbClr val="0A2342"/>
                </a:solidFill>
                <a:latin typeface="Calibri"/>
              </a:rPr>
              <a:t>Medesetti Mythri</a:t>
            </a:r>
          </a:p>
          <a:p>
            <a:pPr algn="ctr">
              <a:buNone/>
            </a:pPr>
            <a:r>
              <a:rPr lang="en-US" sz="800" i="1" dirty="0">
                <a:solidFill>
                  <a:srgbClr val="0A2342"/>
                </a:solidFill>
                <a:latin typeface="Calibri"/>
              </a:rPr>
              <a:t>Research &amp; Pitch Lead</a:t>
            </a:r>
          </a:p>
          <a:p>
            <a:pPr algn="ctr">
              <a:buNone/>
            </a:pPr>
            <a:endParaRPr lang="en-US" sz="800"/>
          </a:p>
          <a:p>
            <a:pPr algn="ctr">
              <a:buNone/>
            </a:pPr>
            <a:r>
              <a:rPr lang="en-US" sz="800" dirty="0">
                <a:solidFill>
                  <a:srgbClr val="555555"/>
                </a:solidFill>
                <a:latin typeface="Calibri"/>
              </a:rPr>
              <a:t>Malla Reddy University</a:t>
            </a:r>
          </a:p>
          <a:p>
            <a:pPr algn="ctr">
              <a:buNone/>
            </a:pPr>
            <a:endParaRPr lang="en-US" sz="800"/>
          </a:p>
          <a:p>
            <a:pPr algn="l">
              <a:buChar char="✓"/>
            </a:pPr>
            <a:r>
              <a:rPr lang="en-US" sz="850" dirty="0">
                <a:solidFill>
                  <a:srgbClr val="222222"/>
                </a:solidFill>
                <a:latin typeface="Calibri"/>
              </a:rPr>
              <a:t>User Research</a:t>
            </a:r>
          </a:p>
          <a:p>
            <a:pPr algn="l">
              <a:buChar char="✓"/>
            </a:pPr>
            <a:r>
              <a:rPr lang="en-US" sz="850" dirty="0">
                <a:solidFill>
                  <a:srgbClr val="222222"/>
                </a:solidFill>
                <a:latin typeface="Calibri"/>
              </a:rPr>
              <a:t>Documentation</a:t>
            </a:r>
          </a:p>
          <a:p>
            <a:pPr algn="l">
              <a:buChar char="✓"/>
            </a:pPr>
            <a:r>
              <a:rPr lang="en-US" sz="850" dirty="0">
                <a:solidFill>
                  <a:srgbClr val="222222"/>
                </a:solidFill>
                <a:latin typeface="Calibri"/>
              </a:rPr>
              <a:t>Presentation Design</a:t>
            </a:r>
          </a:p>
          <a:p>
            <a:pPr algn="l">
              <a:buChar char="✓"/>
            </a:pPr>
            <a:r>
              <a:rPr lang="en-US" sz="850" dirty="0">
                <a:solidFill>
                  <a:srgbClr val="222222"/>
                </a:solidFill>
                <a:latin typeface="Calibri"/>
              </a:rPr>
              <a:t>Pitch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Guardian Mobility AI</dc:title>
  <dc:subject>PptxGenJS Presentation</dc:subject>
  <dc:creator>PptxGenJS</dc:creator>
  <cp:lastModifiedBy>PptxGenJS</cp:lastModifiedBy>
  <cp:revision>1</cp:revision>
  <dcterms:created xsi:type="dcterms:W3CDTF">2026-06-10T11:59:29Z</dcterms:created>
  <dcterms:modified xsi:type="dcterms:W3CDTF">2026-06-10T11:59:29Z</dcterms:modified>
</cp:coreProperties>
</file>